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10" d="100"/>
          <a:sy n="110" d="100"/>
        </p:scale>
        <p:origin x="1626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A58A3-1645-4563-A34A-C6C33AA3947C}" type="datetimeFigureOut">
              <a:rPr lang="en-US" smtClean="0"/>
              <a:t>3/28/2017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DE801-0BC6-4F81-9AA4-2054FB6BF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4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A58A3-1645-4563-A34A-C6C33AA3947C}" type="datetimeFigureOut">
              <a:rPr lang="en-US" smtClean="0"/>
              <a:t>3/28/2017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DE801-0BC6-4F81-9AA4-2054FB6BF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862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A58A3-1645-4563-A34A-C6C33AA3947C}" type="datetimeFigureOut">
              <a:rPr lang="en-US" smtClean="0"/>
              <a:t>3/28/2017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DE801-0BC6-4F81-9AA4-2054FB6BF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830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A58A3-1645-4563-A34A-C6C33AA3947C}" type="datetimeFigureOut">
              <a:rPr lang="en-US" smtClean="0"/>
              <a:t>3/28/2017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DE801-0BC6-4F81-9AA4-2054FB6BF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869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A58A3-1645-4563-A34A-C6C33AA3947C}" type="datetimeFigureOut">
              <a:rPr lang="en-US" smtClean="0"/>
              <a:t>3/28/2017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DE801-0BC6-4F81-9AA4-2054FB6BF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508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A58A3-1645-4563-A34A-C6C33AA3947C}" type="datetimeFigureOut">
              <a:rPr lang="en-US" smtClean="0"/>
              <a:t>3/28/2017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DE801-0BC6-4F81-9AA4-2054FB6BF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905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A58A3-1645-4563-A34A-C6C33AA3947C}" type="datetimeFigureOut">
              <a:rPr lang="en-US" smtClean="0"/>
              <a:t>3/28/2017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DE801-0BC6-4F81-9AA4-2054FB6BF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499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A58A3-1645-4563-A34A-C6C33AA3947C}" type="datetimeFigureOut">
              <a:rPr lang="en-US" smtClean="0"/>
              <a:t>3/28/2017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DE801-0BC6-4F81-9AA4-2054FB6BF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964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A58A3-1645-4563-A34A-C6C33AA3947C}" type="datetimeFigureOut">
              <a:rPr lang="en-US" smtClean="0"/>
              <a:t>3/28/2017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DE801-0BC6-4F81-9AA4-2054FB6BF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265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A58A3-1645-4563-A34A-C6C33AA3947C}" type="datetimeFigureOut">
              <a:rPr lang="en-US" smtClean="0"/>
              <a:t>3/28/2017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DE801-0BC6-4F81-9AA4-2054FB6BF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902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A58A3-1645-4563-A34A-C6C33AA3947C}" type="datetimeFigureOut">
              <a:rPr lang="en-US" smtClean="0"/>
              <a:t>3/28/2017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DE801-0BC6-4F81-9AA4-2054FB6BF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113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DA58A3-1645-4563-A34A-C6C33AA3947C}" type="datetimeFigureOut">
              <a:rPr lang="en-US" smtClean="0"/>
              <a:t>3/28/2017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9DE801-0BC6-4F81-9AA4-2054FB6BF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298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4976" y="1200331"/>
            <a:ext cx="4003107" cy="231895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541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0" y="86103"/>
            <a:ext cx="8247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Looking at Passed/Failed Units in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383" y="3519283"/>
            <a:ext cx="8815234" cy="21698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After removing data for SMSR2 &lt; 45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Number of passed units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15096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Previously we had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15779 passed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units, so,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683 passed units had SMSR2&lt;45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Number of failed units  145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Previously we had 227 failed units, so, 82 failed units had SMSR2 &lt; 45.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718323" y="3479672"/>
            <a:ext cx="217437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Time &lt;= Jan 10, 2017</a:t>
            </a:r>
            <a:endParaRPr lang="en-US" sz="160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93" y="1200331"/>
            <a:ext cx="4018020" cy="232759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910023" y="1552771"/>
            <a:ext cx="13532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SMSR2 &lt; 45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93520" y="1585377"/>
            <a:ext cx="1473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SMSR2 &gt;= 45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0651" y="5838235"/>
            <a:ext cx="8307432" cy="456535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In the next slides, we analyzed the units with SMSR2 &gt;= 45.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5549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53"/>
          <a:stretch/>
        </p:blipFill>
        <p:spPr>
          <a:xfrm>
            <a:off x="251620" y="603676"/>
            <a:ext cx="8640759" cy="616171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9144000" cy="541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86103"/>
            <a:ext cx="8247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Histograms of Different Features</a:t>
            </a:r>
          </a:p>
        </p:txBody>
      </p:sp>
      <p:sp>
        <p:nvSpPr>
          <p:cNvPr id="8" name="Rectangle: Rounded Corners 7"/>
          <p:cNvSpPr/>
          <p:nvPr/>
        </p:nvSpPr>
        <p:spPr>
          <a:xfrm>
            <a:off x="7155402" y="603676"/>
            <a:ext cx="1855433" cy="1207369"/>
          </a:xfrm>
          <a:prstGeom prst="roundRect">
            <a:avLst>
              <a:gd name="adj" fmla="val 4902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/>
          <p:cNvSpPr/>
          <p:nvPr/>
        </p:nvSpPr>
        <p:spPr>
          <a:xfrm>
            <a:off x="177550" y="2212014"/>
            <a:ext cx="1855433" cy="1207369"/>
          </a:xfrm>
          <a:prstGeom prst="roundRect">
            <a:avLst>
              <a:gd name="adj" fmla="val 4902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/>
          <p:cNvSpPr/>
          <p:nvPr/>
        </p:nvSpPr>
        <p:spPr>
          <a:xfrm>
            <a:off x="7137646" y="5523388"/>
            <a:ext cx="1855433" cy="1207369"/>
          </a:xfrm>
          <a:prstGeom prst="roundRect">
            <a:avLst>
              <a:gd name="adj" fmla="val 4902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/>
          <p:cNvSpPr/>
          <p:nvPr/>
        </p:nvSpPr>
        <p:spPr>
          <a:xfrm>
            <a:off x="147874" y="5526338"/>
            <a:ext cx="1855433" cy="1207369"/>
          </a:xfrm>
          <a:prstGeom prst="roundRect">
            <a:avLst>
              <a:gd name="adj" fmla="val 4902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/>
          <p:cNvSpPr/>
          <p:nvPr/>
        </p:nvSpPr>
        <p:spPr>
          <a:xfrm>
            <a:off x="3675825" y="2212014"/>
            <a:ext cx="1786855" cy="1207369"/>
          </a:xfrm>
          <a:prstGeom prst="roundRect">
            <a:avLst>
              <a:gd name="adj" fmla="val 4902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/>
          <p:cNvSpPr/>
          <p:nvPr/>
        </p:nvSpPr>
        <p:spPr>
          <a:xfrm>
            <a:off x="251620" y="627641"/>
            <a:ext cx="1786855" cy="1207369"/>
          </a:xfrm>
          <a:prstGeom prst="roundRect">
            <a:avLst>
              <a:gd name="adj" fmla="val 4902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541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0" y="86103"/>
            <a:ext cx="8247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Correlation Between Different Features</a:t>
            </a:r>
          </a:p>
        </p:txBody>
      </p:sp>
      <p:grpSp>
        <p:nvGrpSpPr>
          <p:cNvPr id="38" name="Group 37"/>
          <p:cNvGrpSpPr/>
          <p:nvPr/>
        </p:nvGrpSpPr>
        <p:grpSpPr>
          <a:xfrm>
            <a:off x="1085982" y="3261304"/>
            <a:ext cx="6671084" cy="1889858"/>
            <a:chOff x="1160410" y="3156079"/>
            <a:chExt cx="6671084" cy="1889858"/>
          </a:xfrm>
        </p:grpSpPr>
        <p:sp>
          <p:nvSpPr>
            <p:cNvPr id="7" name="Oval 6"/>
            <p:cNvSpPr/>
            <p:nvPr/>
          </p:nvSpPr>
          <p:spPr>
            <a:xfrm>
              <a:off x="1721304" y="3156079"/>
              <a:ext cx="1811045" cy="506028"/>
            </a:xfrm>
            <a:prstGeom prst="ellipse">
              <a:avLst/>
            </a:prstGeom>
            <a:noFill/>
            <a:ln w="222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ChirpParameter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3029794" y="3878408"/>
              <a:ext cx="1294661" cy="506028"/>
            </a:xfrm>
            <a:prstGeom prst="ellipse">
              <a:avLst/>
            </a:prstGeom>
            <a:noFill/>
            <a:ln w="222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Iop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4723458" y="3840788"/>
              <a:ext cx="1294661" cy="506028"/>
            </a:xfrm>
            <a:prstGeom prst="ellipse">
              <a:avLst/>
            </a:prstGeom>
            <a:noFill/>
            <a:ln w="222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Slopeff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6536833" y="3869384"/>
              <a:ext cx="1294661" cy="506028"/>
            </a:xfrm>
            <a:prstGeom prst="ellipse">
              <a:avLst/>
            </a:prstGeom>
            <a:noFill/>
            <a:ln w="222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Forward</a:t>
              </a:r>
            </a:p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Voltage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1219714" y="3887813"/>
              <a:ext cx="1211803" cy="506028"/>
            </a:xfrm>
            <a:prstGeom prst="ellipse">
              <a:avLst/>
            </a:prstGeom>
            <a:noFill/>
            <a:ln w="222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Ith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Arc 11"/>
            <p:cNvSpPr/>
            <p:nvPr/>
          </p:nvSpPr>
          <p:spPr>
            <a:xfrm rot="13608453">
              <a:off x="1713277" y="3452614"/>
              <a:ext cx="491727" cy="960147"/>
            </a:xfrm>
            <a:prstGeom prst="arc">
              <a:avLst>
                <a:gd name="adj1" fmla="val 19398864"/>
                <a:gd name="adj2" fmla="val 3075666"/>
              </a:avLst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Arc 12"/>
            <p:cNvSpPr/>
            <p:nvPr/>
          </p:nvSpPr>
          <p:spPr>
            <a:xfrm rot="15760733">
              <a:off x="5772255" y="3315203"/>
              <a:ext cx="491727" cy="1614391"/>
            </a:xfrm>
            <a:prstGeom prst="arc">
              <a:avLst>
                <a:gd name="adj1" fmla="val 18953315"/>
                <a:gd name="adj2" fmla="val 5018896"/>
              </a:avLst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909116" y="3448115"/>
              <a:ext cx="6639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-0.79</a:t>
              </a:r>
            </a:p>
          </p:txBody>
        </p:sp>
        <p:sp>
          <p:nvSpPr>
            <p:cNvPr id="20" name="Arc 19"/>
            <p:cNvSpPr/>
            <p:nvPr/>
          </p:nvSpPr>
          <p:spPr>
            <a:xfrm rot="5839267" flipV="1">
              <a:off x="2238789" y="3324226"/>
              <a:ext cx="491727" cy="1614391"/>
            </a:xfrm>
            <a:prstGeom prst="arc">
              <a:avLst>
                <a:gd name="adj1" fmla="val 18953315"/>
                <a:gd name="adj2" fmla="val 5018896"/>
              </a:avLst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160410" y="3420110"/>
              <a:ext cx="6639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-0.92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401851" y="4316818"/>
              <a:ext cx="5934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F0"/>
                  </a:solidFill>
                </a:rPr>
                <a:t>0.45</a:t>
              </a:r>
            </a:p>
          </p:txBody>
        </p:sp>
        <p:sp>
          <p:nvSpPr>
            <p:cNvPr id="23" name="Arc 22"/>
            <p:cNvSpPr/>
            <p:nvPr/>
          </p:nvSpPr>
          <p:spPr>
            <a:xfrm rot="5839267" flipV="1">
              <a:off x="4045524" y="3333631"/>
              <a:ext cx="491727" cy="1614391"/>
            </a:xfrm>
            <a:prstGeom prst="arc">
              <a:avLst>
                <a:gd name="adj1" fmla="val 18953315"/>
                <a:gd name="adj2" fmla="val 5018896"/>
              </a:avLst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266735" y="4336137"/>
              <a:ext cx="6639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-0.96</a:t>
              </a:r>
            </a:p>
          </p:txBody>
        </p:sp>
        <p:sp>
          <p:nvSpPr>
            <p:cNvPr id="27" name="Arc 26"/>
            <p:cNvSpPr/>
            <p:nvPr/>
          </p:nvSpPr>
          <p:spPr>
            <a:xfrm rot="19360769" flipV="1">
              <a:off x="3457105" y="3431546"/>
              <a:ext cx="491727" cy="1614391"/>
            </a:xfrm>
            <a:prstGeom prst="arc">
              <a:avLst>
                <a:gd name="adj1" fmla="val 2845920"/>
                <a:gd name="adj2" fmla="val 5018896"/>
              </a:avLst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459442" y="3386482"/>
              <a:ext cx="6639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F0"/>
                  </a:solidFill>
                </a:rPr>
                <a:t>-0.43</a:t>
              </a:r>
            </a:p>
          </p:txBody>
        </p:sp>
        <p:sp>
          <p:nvSpPr>
            <p:cNvPr id="30" name="Arc 29"/>
            <p:cNvSpPr/>
            <p:nvPr/>
          </p:nvSpPr>
          <p:spPr>
            <a:xfrm rot="5400000">
              <a:off x="4958060" y="2508858"/>
              <a:ext cx="1108016" cy="3622089"/>
            </a:xfrm>
            <a:prstGeom prst="arc">
              <a:avLst>
                <a:gd name="adj1" fmla="val 16303845"/>
                <a:gd name="adj2" fmla="val 5283235"/>
              </a:avLst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034736" y="4504579"/>
              <a:ext cx="5934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0.78</a:t>
              </a: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691461" y="5063438"/>
            <a:ext cx="7915138" cy="1435591"/>
            <a:chOff x="332217" y="5065190"/>
            <a:chExt cx="7915138" cy="1435591"/>
          </a:xfrm>
        </p:grpSpPr>
        <p:sp>
          <p:nvSpPr>
            <p:cNvPr id="15" name="Oval 14"/>
            <p:cNvSpPr/>
            <p:nvPr/>
          </p:nvSpPr>
          <p:spPr>
            <a:xfrm>
              <a:off x="332217" y="5447883"/>
              <a:ext cx="1294661" cy="506028"/>
            </a:xfrm>
            <a:prstGeom prst="ellipse">
              <a:avLst/>
            </a:prstGeom>
            <a:noFill/>
            <a:ln w="222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SMSR2</a:t>
              </a:r>
            </a:p>
          </p:txBody>
        </p:sp>
        <p:sp>
          <p:nvSpPr>
            <p:cNvPr id="16" name="Oval 15"/>
            <p:cNvSpPr/>
            <p:nvPr/>
          </p:nvSpPr>
          <p:spPr>
            <a:xfrm>
              <a:off x="2008197" y="5447883"/>
              <a:ext cx="1211803" cy="506028"/>
            </a:xfrm>
            <a:prstGeom prst="ellipse">
              <a:avLst/>
            </a:prstGeom>
            <a:noFill/>
            <a:ln w="222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SMSR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5595491" y="5446014"/>
              <a:ext cx="1211803" cy="506028"/>
            </a:xfrm>
            <a:prstGeom prst="ellipse">
              <a:avLst/>
            </a:prstGeom>
            <a:noFill/>
            <a:ln w="222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CNR_61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4039967" y="5468963"/>
              <a:ext cx="1211803" cy="506028"/>
            </a:xfrm>
            <a:prstGeom prst="ellipse">
              <a:avLst/>
            </a:prstGeom>
            <a:noFill/>
            <a:ln w="222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CNR_547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7035552" y="5458302"/>
              <a:ext cx="1211803" cy="506028"/>
            </a:xfrm>
            <a:prstGeom prst="ellipse">
              <a:avLst/>
            </a:prstGeom>
            <a:noFill/>
            <a:ln w="222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CNR_294</a:t>
              </a:r>
            </a:p>
          </p:txBody>
        </p:sp>
        <p:sp>
          <p:nvSpPr>
            <p:cNvPr id="25" name="Arc 24"/>
            <p:cNvSpPr/>
            <p:nvPr/>
          </p:nvSpPr>
          <p:spPr>
            <a:xfrm rot="5839267" flipV="1">
              <a:off x="1308032" y="4913215"/>
              <a:ext cx="491727" cy="1614391"/>
            </a:xfrm>
            <a:prstGeom prst="arc">
              <a:avLst>
                <a:gd name="adj1" fmla="val 18953315"/>
                <a:gd name="adj2" fmla="val 5018896"/>
              </a:avLst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471094" y="5905807"/>
              <a:ext cx="5934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F0"/>
                  </a:solidFill>
                </a:rPr>
                <a:t>0.45</a:t>
              </a:r>
            </a:p>
          </p:txBody>
        </p:sp>
        <p:sp>
          <p:nvSpPr>
            <p:cNvPr id="32" name="Arc 31"/>
            <p:cNvSpPr/>
            <p:nvPr/>
          </p:nvSpPr>
          <p:spPr>
            <a:xfrm rot="15760733">
              <a:off x="4883233" y="4874140"/>
              <a:ext cx="491727" cy="1614391"/>
            </a:xfrm>
            <a:prstGeom prst="arc">
              <a:avLst>
                <a:gd name="adj1" fmla="val 18953315"/>
                <a:gd name="adj2" fmla="val 5018896"/>
              </a:avLst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122816" y="5091669"/>
              <a:ext cx="5934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F0"/>
                  </a:solidFill>
                </a:rPr>
                <a:t>0.58</a:t>
              </a:r>
            </a:p>
          </p:txBody>
        </p:sp>
        <p:sp>
          <p:nvSpPr>
            <p:cNvPr id="34" name="Arc 33"/>
            <p:cNvSpPr/>
            <p:nvPr/>
          </p:nvSpPr>
          <p:spPr>
            <a:xfrm rot="15760733">
              <a:off x="6454470" y="4858848"/>
              <a:ext cx="491727" cy="1614391"/>
            </a:xfrm>
            <a:prstGeom prst="arc">
              <a:avLst>
                <a:gd name="adj1" fmla="val 18953315"/>
                <a:gd name="adj2" fmla="val 5018896"/>
              </a:avLst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577660" y="5065190"/>
              <a:ext cx="5934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F0"/>
                  </a:solidFill>
                </a:rPr>
                <a:t>0.62</a:t>
              </a:r>
            </a:p>
          </p:txBody>
        </p:sp>
        <p:sp>
          <p:nvSpPr>
            <p:cNvPr id="36" name="Arc 35"/>
            <p:cNvSpPr/>
            <p:nvPr/>
          </p:nvSpPr>
          <p:spPr>
            <a:xfrm rot="5400000">
              <a:off x="5892699" y="4419212"/>
              <a:ext cx="516336" cy="3009999"/>
            </a:xfrm>
            <a:prstGeom prst="arc">
              <a:avLst>
                <a:gd name="adj1" fmla="val 16303845"/>
                <a:gd name="adj2" fmla="val 5283235"/>
              </a:avLst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280944" y="6131449"/>
              <a:ext cx="5934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F0"/>
                  </a:solidFill>
                </a:rPr>
                <a:t>0.68</a:t>
              </a: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24" y="665056"/>
            <a:ext cx="8929239" cy="2299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521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541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0" y="86103"/>
            <a:ext cx="8247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Hypothesis Test on Feature Importance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317" y="2597901"/>
            <a:ext cx="9043683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Based on the linear dependency test (F-test) and total dependency test (chi2), we get the following conclusions: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following features </a:t>
            </a:r>
            <a:r>
              <a:rPr lang="en-US" i="1" u="sng" dirty="0">
                <a:latin typeface="Arial" panose="020B0604020202020204" pitchFamily="34" charset="0"/>
                <a:cs typeface="Arial" panose="020B0604020202020204" pitchFamily="34" charset="0"/>
              </a:rPr>
              <a:t>are important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predict the failed units.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SMSR,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MPDCurrent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The following features </a:t>
            </a:r>
            <a:r>
              <a:rPr lang="en-US" i="1" u="sng" dirty="0">
                <a:latin typeface="Arial" panose="020B0604020202020204" pitchFamily="34" charset="0"/>
                <a:cs typeface="Arial" panose="020B0604020202020204" pitchFamily="34" charset="0"/>
              </a:rPr>
              <a:t>are not important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with a very high probability: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RTH_Kohm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LaserTemprature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CNR-61,ForwardVoltage,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TrackingError_Min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B_const_K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Slopeff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TrackingError_Max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FrequencyResponse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7641"/>
            <a:ext cx="9144000" cy="1607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920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541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0" y="86103"/>
            <a:ext cx="8247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Machine Learning Model on Feature Importance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5206881"/>
              </p:ext>
            </p:extLst>
          </p:nvPr>
        </p:nvGraphicFramePr>
        <p:xfrm>
          <a:off x="2933463" y="1011721"/>
          <a:ext cx="3767953" cy="53284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5977">
                  <a:extLst>
                    <a:ext uri="{9D8B030D-6E8A-4147-A177-3AD203B41FA5}">
                      <a16:colId xmlns:a16="http://schemas.microsoft.com/office/drawing/2014/main" val="3507255510"/>
                    </a:ext>
                  </a:extLst>
                </a:gridCol>
                <a:gridCol w="2211976">
                  <a:extLst>
                    <a:ext uri="{9D8B030D-6E8A-4147-A177-3AD203B41FA5}">
                      <a16:colId xmlns:a16="http://schemas.microsoft.com/office/drawing/2014/main" val="1323400723"/>
                    </a:ext>
                  </a:extLst>
                </a:gridCol>
              </a:tblGrid>
              <a:tr h="25102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Feature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Feature Importance Value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60487853"/>
                  </a:ext>
                </a:extLst>
              </a:tr>
              <a:tr h="2417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SMSR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0.1006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7036535"/>
                  </a:ext>
                </a:extLst>
              </a:tr>
              <a:tr h="2417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CSO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0.0796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2838224"/>
                  </a:ext>
                </a:extLst>
              </a:tr>
              <a:tr h="2417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SMSR2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0.0752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25378081"/>
                  </a:ext>
                </a:extLst>
              </a:tr>
              <a:tr h="2417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CTB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0.0611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27154490"/>
                  </a:ext>
                </a:extLst>
              </a:tr>
              <a:tr h="2417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err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MPDCurrent</a:t>
                      </a:r>
                      <a:endParaRPr lang="en-US" sz="11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0.0596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2106887"/>
                  </a:ext>
                </a:extLst>
              </a:tr>
              <a:tr h="2417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CNR_547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0.0591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08120018"/>
                  </a:ext>
                </a:extLst>
              </a:tr>
              <a:tr h="2417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ChirpParameter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0.0535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85355113"/>
                  </a:ext>
                </a:extLst>
              </a:tr>
              <a:tr h="2417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B_Const_K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0.0499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70304776"/>
                  </a:ext>
                </a:extLst>
              </a:tr>
              <a:tr h="2417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WaveLen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0.0485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94940566"/>
                  </a:ext>
                </a:extLst>
              </a:tr>
              <a:tr h="2417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Iop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0.0473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14106149"/>
                  </a:ext>
                </a:extLst>
              </a:tr>
              <a:tr h="2417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Ith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0.0453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6919631"/>
                  </a:ext>
                </a:extLst>
              </a:tr>
              <a:tr h="2417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Slopeff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0.0431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69949764"/>
                  </a:ext>
                </a:extLst>
              </a:tr>
              <a:tr h="2417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Chirp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0.0413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50361743"/>
                  </a:ext>
                </a:extLst>
              </a:tr>
              <a:tr h="2417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LsrTemperature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0.0387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5482394"/>
                  </a:ext>
                </a:extLst>
              </a:tr>
              <a:tr h="2417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RTH_Kohm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0.0380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05082305"/>
                  </a:ext>
                </a:extLst>
              </a:tr>
              <a:tr h="2417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TrackingError_Min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0.0338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99725761"/>
                  </a:ext>
                </a:extLst>
              </a:tr>
              <a:tr h="2417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CNR_294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0.0332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46594542"/>
                  </a:ext>
                </a:extLst>
              </a:tr>
              <a:tr h="2417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TrackingError_Max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0.0315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50331798"/>
                  </a:ext>
                </a:extLst>
              </a:tr>
              <a:tr h="2417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CNR_61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0.0277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86314243"/>
                  </a:ext>
                </a:extLst>
              </a:tr>
              <a:tr h="2417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ForwardVoltage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0.0212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52890154"/>
                  </a:ext>
                </a:extLst>
              </a:tr>
              <a:tr h="2417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FreqResponse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0.0115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89805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9710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541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0" y="86103"/>
            <a:ext cx="8247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Clustering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79070" y="802975"/>
            <a:ext cx="8321040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0: number of passed = 1296, number of failed = 3,   failure Percentage = 0.23 %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1: number of passed = 3060, number of failed = 44, failure Percentage = 1.41 %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2: number of passed = 3043, number of failed = 27, failure Percentage = 0.87%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3: number of passed = 3451, number of failed = 31, failure Percentage = 0.89 %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4: number of passed = 421,   number of failed = 1,   failure Percentage = 0.23 %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5: number of passed = 2247, number of failed = 16, failure Percentage = 0.70 %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6: number of passed = 1578, number of failed = 23, failure Percentage = 1.43 % </a:t>
            </a:r>
          </a:p>
        </p:txBody>
      </p:sp>
      <p:sp>
        <p:nvSpPr>
          <p:cNvPr id="7" name="Rectangle 6"/>
          <p:cNvSpPr/>
          <p:nvPr/>
        </p:nvSpPr>
        <p:spPr>
          <a:xfrm>
            <a:off x="687978" y="91816"/>
            <a:ext cx="67447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effectLst/>
              </a:rPr>
              <a:t>Total Failure Percentage = 0.95%</a:t>
            </a:r>
            <a:endParaRPr lang="en-US" b="1" dirty="0"/>
          </a:p>
        </p:txBody>
      </p:sp>
      <p:sp>
        <p:nvSpPr>
          <p:cNvPr id="8" name="Rectangle: Rounded Corners 7"/>
          <p:cNvSpPr/>
          <p:nvPr/>
        </p:nvSpPr>
        <p:spPr>
          <a:xfrm>
            <a:off x="118110" y="680323"/>
            <a:ext cx="8577943" cy="1723090"/>
          </a:xfrm>
          <a:prstGeom prst="roundRect">
            <a:avLst>
              <a:gd name="adj" fmla="val 9030"/>
            </a:avLst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9" name="Rectangle 8"/>
          <p:cNvSpPr/>
          <p:nvPr/>
        </p:nvSpPr>
        <p:spPr>
          <a:xfrm>
            <a:off x="440328" y="580016"/>
            <a:ext cx="1506582" cy="2229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7 Clusters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5900261"/>
              </p:ext>
            </p:extLst>
          </p:nvPr>
        </p:nvGraphicFramePr>
        <p:xfrm>
          <a:off x="12006" y="2463799"/>
          <a:ext cx="9131994" cy="4384676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329991">
                  <a:extLst>
                    <a:ext uri="{9D8B030D-6E8A-4147-A177-3AD203B41FA5}">
                      <a16:colId xmlns:a16="http://schemas.microsoft.com/office/drawing/2014/main" val="3507255510"/>
                    </a:ext>
                  </a:extLst>
                </a:gridCol>
                <a:gridCol w="689333">
                  <a:extLst>
                    <a:ext uri="{9D8B030D-6E8A-4147-A177-3AD203B41FA5}">
                      <a16:colId xmlns:a16="http://schemas.microsoft.com/office/drawing/2014/main" val="1323400723"/>
                    </a:ext>
                  </a:extLst>
                </a:gridCol>
                <a:gridCol w="1185445">
                  <a:extLst>
                    <a:ext uri="{9D8B030D-6E8A-4147-A177-3AD203B41FA5}">
                      <a16:colId xmlns:a16="http://schemas.microsoft.com/office/drawing/2014/main" val="3785212918"/>
                    </a:ext>
                  </a:extLst>
                </a:gridCol>
                <a:gridCol w="1185445">
                  <a:extLst>
                    <a:ext uri="{9D8B030D-6E8A-4147-A177-3AD203B41FA5}">
                      <a16:colId xmlns:a16="http://schemas.microsoft.com/office/drawing/2014/main" val="4140845698"/>
                    </a:ext>
                  </a:extLst>
                </a:gridCol>
                <a:gridCol w="1185445">
                  <a:extLst>
                    <a:ext uri="{9D8B030D-6E8A-4147-A177-3AD203B41FA5}">
                      <a16:colId xmlns:a16="http://schemas.microsoft.com/office/drawing/2014/main" val="699753287"/>
                    </a:ext>
                  </a:extLst>
                </a:gridCol>
                <a:gridCol w="1185445">
                  <a:extLst>
                    <a:ext uri="{9D8B030D-6E8A-4147-A177-3AD203B41FA5}">
                      <a16:colId xmlns:a16="http://schemas.microsoft.com/office/drawing/2014/main" val="4185317280"/>
                    </a:ext>
                  </a:extLst>
                </a:gridCol>
                <a:gridCol w="1185445">
                  <a:extLst>
                    <a:ext uri="{9D8B030D-6E8A-4147-A177-3AD203B41FA5}">
                      <a16:colId xmlns:a16="http://schemas.microsoft.com/office/drawing/2014/main" val="3216172668"/>
                    </a:ext>
                  </a:extLst>
                </a:gridCol>
                <a:gridCol w="1185445">
                  <a:extLst>
                    <a:ext uri="{9D8B030D-6E8A-4147-A177-3AD203B41FA5}">
                      <a16:colId xmlns:a16="http://schemas.microsoft.com/office/drawing/2014/main" val="767909910"/>
                    </a:ext>
                  </a:extLst>
                </a:gridCol>
              </a:tblGrid>
              <a:tr h="416045"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Cluster 0 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Center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Cluster 1 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Center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Cluster 2 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Center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Cluster 3 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Center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Cluster 4 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Center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Cluster 5 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Center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Cluster 6 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Center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60487853"/>
                  </a:ext>
                </a:extLst>
              </a:tr>
              <a:tr h="1675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Ith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16.9579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16.4120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16.6261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16.4685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17.4239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16.8205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16.6444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7036535"/>
                  </a:ext>
                </a:extLst>
              </a:tr>
              <a:tr h="1675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Slopeff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0.1653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0.1997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0.1809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0.1904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0.1504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0.1728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0.2072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2838224"/>
                  </a:ext>
                </a:extLst>
              </a:tr>
              <a:tr h="1675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Chirp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350.7828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347.7672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349.8599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349.0855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353.0758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351.1757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347.0234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25378081"/>
                  </a:ext>
                </a:extLst>
              </a:tr>
              <a:tr h="1675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WaveLen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1550.8480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1550.7874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1552.4162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1551.5412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1549.5746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1552.3658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1549.5223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27154490"/>
                  </a:ext>
                </a:extLst>
              </a:tr>
              <a:tr h="1675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SMSR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36.8149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36.5661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36.3681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36.5150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36.6033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36.6373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36.7048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2106887"/>
                  </a:ext>
                </a:extLst>
              </a:tr>
              <a:tr h="1675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CSO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41.6348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41.6541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41.6111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41.6167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41.5235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41.5951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41.6490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08120018"/>
                  </a:ext>
                </a:extLst>
              </a:tr>
              <a:tr h="1675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CTB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69.9151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71.0005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70.8855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71.1282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69.6647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70.5083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70.7736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85355113"/>
                  </a:ext>
                </a:extLst>
              </a:tr>
              <a:tr h="1675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MPDCurrent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750.0478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359.8966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530.2547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444.6453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933.8239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627.9927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261.2766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70304776"/>
                  </a:ext>
                </a:extLst>
              </a:tr>
              <a:tr h="218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TrackingError_Max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0.1089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0.1100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0.1077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0.1087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0.1025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0.1069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0.1098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94940566"/>
                  </a:ext>
                </a:extLst>
              </a:tr>
              <a:tr h="1675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TrackingError_Min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-0.1309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-0.1396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-0.1332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-0.1386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-0.1259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-0.1332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-0.1420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14106149"/>
                  </a:ext>
                </a:extLst>
              </a:tr>
              <a:tr h="1675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ForwardVoltage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1.1385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1.1069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1.1187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1.1124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1.1583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1.1287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1.1070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6919631"/>
                  </a:ext>
                </a:extLst>
              </a:tr>
              <a:tr h="1675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FreqResponse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0.8396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0.8048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0.8193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0.8191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0.8328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0.8284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0.8075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69949764"/>
                  </a:ext>
                </a:extLst>
              </a:tr>
              <a:tr h="1675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ChirpParameter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-5.9417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-5.7085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-5.8150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-5.7482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-6.1455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-5.9020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-5.7769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50361743"/>
                  </a:ext>
                </a:extLst>
              </a:tr>
              <a:tr h="1675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LsrTemperature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28.6654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28.4681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28.3780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28.4710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28.9744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28.5617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28.4459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5482394"/>
                  </a:ext>
                </a:extLst>
              </a:tr>
              <a:tr h="1675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Iop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81.3611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69.8867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75.7912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72.6174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87.1664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78.7057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68.2449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05082305"/>
                  </a:ext>
                </a:extLst>
              </a:tr>
              <a:tr h="218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CNR_61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52.5698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52.7200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52.6697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52.7024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52.5476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52.6285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52.7360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99725761"/>
                  </a:ext>
                </a:extLst>
              </a:tr>
              <a:tr h="1675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CNR_547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53.5307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53.5207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53.5541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53.5404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53.5194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53.5572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53.4780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46594542"/>
                  </a:ext>
                </a:extLst>
              </a:tr>
              <a:tr h="218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B_Const_K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3952.7932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3952.2290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3952.2562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3952.3819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3954.0427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3952.6671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3952.7726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50331798"/>
                  </a:ext>
                </a:extLst>
              </a:tr>
              <a:tr h="218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RTH_Kohm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8.6265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8.6983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8.7420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8.7004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8.5148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8.6724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8.7080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86314243"/>
                  </a:ext>
                </a:extLst>
              </a:tr>
              <a:tr h="218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CNR_294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53.2456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53.3768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53.3209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53.3473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53.1555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53.2826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53.3774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52890154"/>
                  </a:ext>
                </a:extLst>
              </a:tr>
              <a:tr h="218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SMSR2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50.1587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50.3559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50.3973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50.3784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50.0141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50.3804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50.4469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89805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0640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87680" y="786842"/>
            <a:ext cx="832104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0: number of passed = 4609, number of failed = 51, failure Percentage = 1.09 %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1: number of passed = 2608, number of failed = 18, failure Percentage = 0.68 %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2: number of passed = 4247, number of failed = 34, failure Percentage = 0.79 %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3: number of passed = 870, number of failed = 1, failure Percentage = 0.11 %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4: number of passed = 2762, number of failed = 41, failure Percentage = 1.46 % 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: Rounded Corners 4"/>
          <p:cNvSpPr/>
          <p:nvPr/>
        </p:nvSpPr>
        <p:spPr>
          <a:xfrm>
            <a:off x="426720" y="664190"/>
            <a:ext cx="8577943" cy="1292203"/>
          </a:xfrm>
          <a:prstGeom prst="roundRect">
            <a:avLst>
              <a:gd name="adj" fmla="val 9030"/>
            </a:avLst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" name="Rectangle 5"/>
          <p:cNvSpPr/>
          <p:nvPr/>
        </p:nvSpPr>
        <p:spPr>
          <a:xfrm>
            <a:off x="748938" y="563883"/>
            <a:ext cx="1506582" cy="2229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5 Clusters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9144000" cy="541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0" y="86103"/>
            <a:ext cx="8247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Clustering Results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7978" y="91816"/>
            <a:ext cx="67447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effectLst/>
              </a:rPr>
              <a:t>Total Failure Percentage = 0.95 %</a:t>
            </a:r>
            <a:endParaRPr lang="en-US" b="1" dirty="0"/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0816138"/>
              </p:ext>
            </p:extLst>
          </p:nvPr>
        </p:nvGraphicFramePr>
        <p:xfrm>
          <a:off x="984068" y="2079045"/>
          <a:ext cx="7175863" cy="434530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218543">
                  <a:extLst>
                    <a:ext uri="{9D8B030D-6E8A-4147-A177-3AD203B41FA5}">
                      <a16:colId xmlns:a16="http://schemas.microsoft.com/office/drawing/2014/main" val="1767549517"/>
                    </a:ext>
                  </a:extLst>
                </a:gridCol>
                <a:gridCol w="1191464">
                  <a:extLst>
                    <a:ext uri="{9D8B030D-6E8A-4147-A177-3AD203B41FA5}">
                      <a16:colId xmlns:a16="http://schemas.microsoft.com/office/drawing/2014/main" val="651634012"/>
                    </a:ext>
                  </a:extLst>
                </a:gridCol>
                <a:gridCol w="1191464">
                  <a:extLst>
                    <a:ext uri="{9D8B030D-6E8A-4147-A177-3AD203B41FA5}">
                      <a16:colId xmlns:a16="http://schemas.microsoft.com/office/drawing/2014/main" val="2847385242"/>
                    </a:ext>
                  </a:extLst>
                </a:gridCol>
                <a:gridCol w="1191464">
                  <a:extLst>
                    <a:ext uri="{9D8B030D-6E8A-4147-A177-3AD203B41FA5}">
                      <a16:colId xmlns:a16="http://schemas.microsoft.com/office/drawing/2014/main" val="2044065983"/>
                    </a:ext>
                  </a:extLst>
                </a:gridCol>
                <a:gridCol w="1191464">
                  <a:extLst>
                    <a:ext uri="{9D8B030D-6E8A-4147-A177-3AD203B41FA5}">
                      <a16:colId xmlns:a16="http://schemas.microsoft.com/office/drawing/2014/main" val="2723765937"/>
                    </a:ext>
                  </a:extLst>
                </a:gridCol>
                <a:gridCol w="1191464">
                  <a:extLst>
                    <a:ext uri="{9D8B030D-6E8A-4147-A177-3AD203B41FA5}">
                      <a16:colId xmlns:a16="http://schemas.microsoft.com/office/drawing/2014/main" val="3661362276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Cluster 0 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Center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Cluster 1 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Center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Cluster 2 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Center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Cluster 3 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Center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Cluster 4 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Center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7923997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Ith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16.4331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16.8751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16.6145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17.2566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16.5438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3291526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Slopeff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0.1938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0.1704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0.1811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0.1564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0.2057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290584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Chirp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348.7890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350.8276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349.9310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352.2294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346.9625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2380796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WaveLen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1551.3874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1551.8659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1552.3395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1550.0644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1549.7504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125439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SMSR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36.4908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36.7238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36.4385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36.6097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36.7022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9657545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CSO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41.6164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41.6137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41.6099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41.5621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41.6781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777288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CTB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71.1202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70.2863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70.9054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69.7564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70.8042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388571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MPDCurrent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411.8419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666.4896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528.1157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864.5526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291.6668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8699009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TrackingError_Max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0.1088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0.1078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0.1080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0.1049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0.1103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2380845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TrackingError_Min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-0.1393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-0.1324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-0.1338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-0.1280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-0.1412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243972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ForwardVoltage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1.1100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1.1319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1.1189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1.1511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1.1061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9927073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FreqResponse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0.8123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0.8288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0.8211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0.8443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0.8075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966483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ChirpParameter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-5.7311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-5.9149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-5.8117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-6.0722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-5.7420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791819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LsrTemperature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28.4634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28.5853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28.3710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28.9827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28.4900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7979747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Iop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71.5598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79.6055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75.6653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84.8161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68.4929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2827207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CNR_61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52.7121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52.6138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52.6705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52.5372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52.7278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4628595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CNR_547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53.5360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53.5458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53.5520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53.5246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53.4933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5617565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B_Const_K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3952.2912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3952.6246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3952.2527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3953.9018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3952.6175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0625593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RTH_Kohm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8.7019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8.6640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8.7440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8.5050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8.6889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8192993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CNR_294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53.3545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53.2767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53.3174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53.1708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53.3946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480194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SMSR2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50.3634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50.3214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50.3975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50.0344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50.4143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110263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8128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11480" y="754428"/>
            <a:ext cx="832104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0: number of passed = 2593, number of failed = 9, failure Percentage = 0.34 %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1: number of passed = 6089, number of failed = 75, failure Percentage = 1.21 %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2: number of passed = 6414, number of failed = 61, failure Percentage = 0.94 %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: Rounded Corners 4"/>
          <p:cNvSpPr/>
          <p:nvPr/>
        </p:nvSpPr>
        <p:spPr>
          <a:xfrm>
            <a:off x="365760" y="678394"/>
            <a:ext cx="8577943" cy="861316"/>
          </a:xfrm>
          <a:prstGeom prst="roundRect">
            <a:avLst>
              <a:gd name="adj" fmla="val 9030"/>
            </a:avLst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" name="Rectangle 5"/>
          <p:cNvSpPr/>
          <p:nvPr/>
        </p:nvSpPr>
        <p:spPr>
          <a:xfrm>
            <a:off x="687978" y="578087"/>
            <a:ext cx="1506582" cy="2229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3 Clusters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9144000" cy="541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0" y="86103"/>
            <a:ext cx="8247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Clustering Results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7978" y="91816"/>
            <a:ext cx="67447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effectLst/>
              </a:rPr>
              <a:t>Total Failure Percentage = </a:t>
            </a:r>
            <a:r>
              <a:rPr lang="en-US" b="1" dirty="0"/>
              <a:t>0.95 </a:t>
            </a:r>
            <a:r>
              <a:rPr lang="en-US" b="1" dirty="0">
                <a:effectLst/>
              </a:rPr>
              <a:t>%</a:t>
            </a:r>
            <a:endParaRPr lang="en-US" b="1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129421"/>
              </p:ext>
            </p:extLst>
          </p:nvPr>
        </p:nvGraphicFramePr>
        <p:xfrm>
          <a:off x="2375081" y="1770017"/>
          <a:ext cx="4559299" cy="434530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170760">
                  <a:extLst>
                    <a:ext uri="{9D8B030D-6E8A-4147-A177-3AD203B41FA5}">
                      <a16:colId xmlns:a16="http://schemas.microsoft.com/office/drawing/2014/main" val="3803322308"/>
                    </a:ext>
                  </a:extLst>
                </a:gridCol>
                <a:gridCol w="1129513">
                  <a:extLst>
                    <a:ext uri="{9D8B030D-6E8A-4147-A177-3AD203B41FA5}">
                      <a16:colId xmlns:a16="http://schemas.microsoft.com/office/drawing/2014/main" val="1600283675"/>
                    </a:ext>
                  </a:extLst>
                </a:gridCol>
                <a:gridCol w="1129513">
                  <a:extLst>
                    <a:ext uri="{9D8B030D-6E8A-4147-A177-3AD203B41FA5}">
                      <a16:colId xmlns:a16="http://schemas.microsoft.com/office/drawing/2014/main" val="518209919"/>
                    </a:ext>
                  </a:extLst>
                </a:gridCol>
                <a:gridCol w="1129513">
                  <a:extLst>
                    <a:ext uri="{9D8B030D-6E8A-4147-A177-3AD203B41FA5}">
                      <a16:colId xmlns:a16="http://schemas.microsoft.com/office/drawing/2014/main" val="1141960143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Cluster 0 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Center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Cluster 1 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Center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Cluster 2 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Center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3601145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Ith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16.9890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16.4906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16.6132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6454714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Slopeff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0.1644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0.2001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0.1819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336346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Chirp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351.1337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348.0517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349.8042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4678869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WaveLen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1551.0430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1550.6045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1552.2075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7442201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SMSR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36.7444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36.5992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36.4533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5341947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CSO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41.6106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41.6433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41.6071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7134704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CTB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70.0050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70.9829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70.8977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2862627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MPDCurrent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750.2052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348.4417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525.4804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7488613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TrackingError_Max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0.1072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0.1094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0.1080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742292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TrackingError_Min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-0.1313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-0.1404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-0.1344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5896465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ForwardVoltage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1.1395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1.1077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1.1188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3857871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FreqResponse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0.8356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0.8076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0.8221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471325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ChirpParameter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-5.9592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-5.7401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-5.8095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602182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LsrTemperature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28.6968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28.4741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28.4293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8948957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Iop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81.7577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69.9021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75.4793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1751111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CNR_61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52.5775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52.7238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52.6708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9898442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CNR_547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53.5336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53.5162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53.5503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4075924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B_Const_K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3953.0786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3952.4791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3952.2642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5747724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RTH_Kohm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8.6202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8.6970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8.7197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7657944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CNR_294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53.2327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53.3777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53.3179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9019597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SMSR2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50.1932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50.3784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50.4006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49131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6805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74345" y="1024687"/>
            <a:ext cx="832104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0: number of passed = 5629, number of failed = 33, failure Percentage = 0.58 %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 1: number of passed = 9467, number of failed = 112, failure Percentage = 1.16 % 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: Rounded Corners 4"/>
          <p:cNvSpPr/>
          <p:nvPr/>
        </p:nvSpPr>
        <p:spPr>
          <a:xfrm>
            <a:off x="413385" y="902035"/>
            <a:ext cx="8577943" cy="861316"/>
          </a:xfrm>
          <a:prstGeom prst="roundRect">
            <a:avLst>
              <a:gd name="adj" fmla="val 9030"/>
            </a:avLst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" name="Rectangle 5"/>
          <p:cNvSpPr/>
          <p:nvPr/>
        </p:nvSpPr>
        <p:spPr>
          <a:xfrm>
            <a:off x="735603" y="801728"/>
            <a:ext cx="1506582" cy="2229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2 Clusters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541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0" y="86103"/>
            <a:ext cx="8247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Clustering Results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7978" y="91816"/>
            <a:ext cx="67447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effectLst/>
              </a:rPr>
              <a:t>Total Failure Percentage = 1.35%</a:t>
            </a:r>
            <a:endParaRPr lang="en-US" b="1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0055813"/>
              </p:ext>
            </p:extLst>
          </p:nvPr>
        </p:nvGraphicFramePr>
        <p:xfrm>
          <a:off x="2671082" y="1886003"/>
          <a:ext cx="3543300" cy="434530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181100">
                  <a:extLst>
                    <a:ext uri="{9D8B030D-6E8A-4147-A177-3AD203B41FA5}">
                      <a16:colId xmlns:a16="http://schemas.microsoft.com/office/drawing/2014/main" val="1523040649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912464843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821161998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Cluster 0 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Center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Cluster 1 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Center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728474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Ith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16.8481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16.4972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9405672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Slopeff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0.1711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0.1953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1384903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Chirp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350.9927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348.3333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4239508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WaveLen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1551.8898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1551.0477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9501739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SMSR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36.6117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36.5325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8053949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CSO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41.5979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41.6368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3775254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CTB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70.3967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71.0069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7593339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MPDCurrent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655.7207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395.3919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255958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TrackingError_Max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0.1068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0.1095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4906009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TrackingError_Min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-0.1322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-0.1387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0632386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ForwardVoltage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1.1308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1.1102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1792824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FreqResponse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0.8302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0.8117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2258452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ChirpParameter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-5.9092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-5.7464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0526574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LsrTemperature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28.5518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28.4583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9805852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Iop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79.3330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71.3114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7971296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CNR_61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52.6230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52.7079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030155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CNR_547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53.5499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53.5241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3270882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B_Const_K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3952.6786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3952.3782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142478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RTH_Kohm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8.6757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8.7041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0925913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CNR_294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53.2775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53.3572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1503438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SMSR2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50.3198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50.3779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037956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46802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182</TotalTime>
  <Words>1226</Words>
  <Application>Microsoft Office PowerPoint</Application>
  <PresentationFormat>On-screen Show (4:3)</PresentationFormat>
  <Paragraphs>572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Morteza Ziyadi</dc:creator>
  <cp:lastModifiedBy>Morteza Ziyadi</cp:lastModifiedBy>
  <cp:revision>16</cp:revision>
  <dcterms:created xsi:type="dcterms:W3CDTF">2017-03-28T17:10:19Z</dcterms:created>
  <dcterms:modified xsi:type="dcterms:W3CDTF">2017-03-28T20:12:52Z</dcterms:modified>
</cp:coreProperties>
</file>