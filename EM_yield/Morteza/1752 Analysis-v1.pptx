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2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75F16-429D-4637-B4D7-63525D33435A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F7F66-E0F2-4EC3-ADAB-EE6D83CF6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5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F7F66-E0F2-4EC3-ADAB-EE6D83CF6D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6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9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8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0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4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1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2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9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3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0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5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6320A-79DF-40F1-9B08-8BA644245C99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C7054-0648-4DB3-BA00-D09CD670B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Collection and Cleaning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651" y="627641"/>
            <a:ext cx="866069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Pulled out the data 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ModuleShippingData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(TDS) table in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SQLdatabase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the time from 04/2016 to present.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a. we have 27038 units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b. 13,276 units (including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195 failed units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missing SMSR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c. 1,885 units (including 28 failed units) missing SMSR2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2) Pulled out SMSR data 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ModuleFailSMSR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table in SQL database for the unit selected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previoulsly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result: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a. 1 passed unit missing SMSR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b. 576 units (including 14 failed units) missing SMSR2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3) Deleted that 1 unit from the analysis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4) Used SMSR2_Iop from 1752_C21_QMA_228 file to replace with missing SMSR2 values for failed units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result: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a. 562 passed units missing SMSR2 values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5) Deleted 562 passed units from the analysis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6) Deleted some few passed units with SMSR of 0.00 as well as SMSR&lt;30 .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Result: 26240 Units including 227 </a:t>
            </a:r>
          </a:p>
          <a:p>
            <a:pPr algn="ctr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06894" y="5040203"/>
            <a:ext cx="8530209" cy="1489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altLang="en-US" sz="1400" b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'TDS_DT',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Device_SN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'Description',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PartNo_Select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  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Slopeff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'Chirp',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WaveLen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'SMSR', 'CSO', 'CTB',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MPDCurrent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TrackingError_Max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  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TrackingError_Min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ForwardVoltage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FreqResponse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ChirpParameter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LsrTemperature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  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Iop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'CNR_61', 'CNR_547', 'Station', 'Operator',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B_Const_K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RTH_Kohm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', 'CNR_294',     'SMSR2', '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Pass_test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43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34"/>
          <a:stretch/>
        </p:blipFill>
        <p:spPr>
          <a:xfrm>
            <a:off x="1224640" y="627641"/>
            <a:ext cx="6386212" cy="395499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Looking at Passed/Failed Units in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725" y="4668736"/>
            <a:ext cx="72907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number of units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26460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Number of failed units  227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63% of data belongs to the time before 2017-01-15.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16784 units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37% belongs to after 2017-01-15.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9676 units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6"/>
          <a:stretch/>
        </p:blipFill>
        <p:spPr>
          <a:xfrm>
            <a:off x="251620" y="603676"/>
            <a:ext cx="8640759" cy="61389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Histograms of Different Features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7155402" y="603676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/>
          <p:cNvSpPr/>
          <p:nvPr/>
        </p:nvSpPr>
        <p:spPr>
          <a:xfrm>
            <a:off x="177550" y="2212014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7137646" y="5523388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/>
          <p:cNvSpPr/>
          <p:nvPr/>
        </p:nvSpPr>
        <p:spPr>
          <a:xfrm>
            <a:off x="147874" y="5526338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6189" y="509261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effectLst/>
              </a:rPr>
              <a:t>Mean of the SMSR difference = 37.59 %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SMSR2 and SMSR Difference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189" y="1955269"/>
            <a:ext cx="3848100" cy="2819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56791" y="5059125"/>
            <a:ext cx="3689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Mean of the SMSR difference = 13.66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76" y="1955269"/>
            <a:ext cx="38481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3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08" y="746954"/>
            <a:ext cx="8753383" cy="23760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Between Different Features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085982" y="3261304"/>
            <a:ext cx="6671084" cy="1889858"/>
            <a:chOff x="1160410" y="3156079"/>
            <a:chExt cx="6671084" cy="1889858"/>
          </a:xfrm>
        </p:grpSpPr>
        <p:sp>
          <p:nvSpPr>
            <p:cNvPr id="7" name="Oval 6"/>
            <p:cNvSpPr/>
            <p:nvPr/>
          </p:nvSpPr>
          <p:spPr>
            <a:xfrm>
              <a:off x="1721304" y="3156079"/>
              <a:ext cx="1811045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ChirpParameter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029794" y="3878408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Iop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23458" y="3840788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Slopeff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6536833" y="3869384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Forward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Voltage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19714" y="3887813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Ith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Arc 11"/>
            <p:cNvSpPr/>
            <p:nvPr/>
          </p:nvSpPr>
          <p:spPr>
            <a:xfrm rot="13608453">
              <a:off x="1713277" y="3452614"/>
              <a:ext cx="491727" cy="960147"/>
            </a:xfrm>
            <a:prstGeom prst="arc">
              <a:avLst>
                <a:gd name="adj1" fmla="val 19398864"/>
                <a:gd name="adj2" fmla="val 307566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/>
            <p:cNvSpPr/>
            <p:nvPr/>
          </p:nvSpPr>
          <p:spPr>
            <a:xfrm rot="15760733">
              <a:off x="5772255" y="3315203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09116" y="3448115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-0.78</a:t>
              </a:r>
            </a:p>
          </p:txBody>
        </p:sp>
        <p:sp>
          <p:nvSpPr>
            <p:cNvPr id="20" name="Arc 19"/>
            <p:cNvSpPr/>
            <p:nvPr/>
          </p:nvSpPr>
          <p:spPr>
            <a:xfrm rot="5839267" flipV="1">
              <a:off x="2238789" y="3324226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60410" y="3420110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-0.98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01851" y="4316818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0.45</a:t>
              </a:r>
            </a:p>
          </p:txBody>
        </p:sp>
        <p:sp>
          <p:nvSpPr>
            <p:cNvPr id="23" name="Arc 22"/>
            <p:cNvSpPr/>
            <p:nvPr/>
          </p:nvSpPr>
          <p:spPr>
            <a:xfrm rot="5839267" flipV="1">
              <a:off x="4045524" y="3333631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66735" y="4336137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-0.96</a:t>
              </a:r>
            </a:p>
          </p:txBody>
        </p:sp>
        <p:sp>
          <p:nvSpPr>
            <p:cNvPr id="27" name="Arc 26"/>
            <p:cNvSpPr/>
            <p:nvPr/>
          </p:nvSpPr>
          <p:spPr>
            <a:xfrm rot="19360769" flipV="1">
              <a:off x="3457105" y="3431546"/>
              <a:ext cx="491727" cy="1614391"/>
            </a:xfrm>
            <a:prstGeom prst="arc">
              <a:avLst>
                <a:gd name="adj1" fmla="val 2845920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59442" y="3386482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-0.43</a:t>
              </a:r>
            </a:p>
          </p:txBody>
        </p:sp>
        <p:sp>
          <p:nvSpPr>
            <p:cNvPr id="30" name="Arc 29"/>
            <p:cNvSpPr/>
            <p:nvPr/>
          </p:nvSpPr>
          <p:spPr>
            <a:xfrm rot="5400000">
              <a:off x="4958060" y="2508858"/>
              <a:ext cx="1108016" cy="3622089"/>
            </a:xfrm>
            <a:prstGeom prst="arc">
              <a:avLst>
                <a:gd name="adj1" fmla="val 16303845"/>
                <a:gd name="adj2" fmla="val 5283235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34736" y="4504579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0.78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91461" y="5063438"/>
            <a:ext cx="7915138" cy="1435591"/>
            <a:chOff x="332217" y="5065190"/>
            <a:chExt cx="7915138" cy="1435591"/>
          </a:xfrm>
        </p:grpSpPr>
        <p:sp>
          <p:nvSpPr>
            <p:cNvPr id="15" name="Oval 14"/>
            <p:cNvSpPr/>
            <p:nvPr/>
          </p:nvSpPr>
          <p:spPr>
            <a:xfrm>
              <a:off x="332217" y="5447883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SMSR2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2008197" y="5447883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SMSR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595491" y="5446014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CNR_61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039967" y="5468963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CNR_547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035552" y="5458302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CNR_294</a:t>
              </a:r>
            </a:p>
          </p:txBody>
        </p:sp>
        <p:sp>
          <p:nvSpPr>
            <p:cNvPr id="25" name="Arc 24"/>
            <p:cNvSpPr/>
            <p:nvPr/>
          </p:nvSpPr>
          <p:spPr>
            <a:xfrm rot="5839267" flipV="1">
              <a:off x="1308032" y="4913215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71094" y="5905807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0.49</a:t>
              </a:r>
            </a:p>
          </p:txBody>
        </p:sp>
        <p:sp>
          <p:nvSpPr>
            <p:cNvPr id="32" name="Arc 31"/>
            <p:cNvSpPr/>
            <p:nvPr/>
          </p:nvSpPr>
          <p:spPr>
            <a:xfrm rot="15760733">
              <a:off x="4883233" y="4874140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22816" y="5091669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0.59</a:t>
              </a:r>
            </a:p>
          </p:txBody>
        </p:sp>
        <p:sp>
          <p:nvSpPr>
            <p:cNvPr id="34" name="Arc 33"/>
            <p:cNvSpPr/>
            <p:nvPr/>
          </p:nvSpPr>
          <p:spPr>
            <a:xfrm rot="15760733">
              <a:off x="6454470" y="4858848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577660" y="5065190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0.61</a:t>
              </a:r>
            </a:p>
          </p:txBody>
        </p:sp>
        <p:sp>
          <p:nvSpPr>
            <p:cNvPr id="36" name="Arc 35"/>
            <p:cNvSpPr/>
            <p:nvPr/>
          </p:nvSpPr>
          <p:spPr>
            <a:xfrm rot="5400000">
              <a:off x="5892699" y="4419212"/>
              <a:ext cx="516336" cy="3009999"/>
            </a:xfrm>
            <a:prstGeom prst="arc">
              <a:avLst>
                <a:gd name="adj1" fmla="val 16303845"/>
                <a:gd name="adj2" fmla="val 5283235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280944" y="6131449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0.68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152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Test on Feature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17" y="2597901"/>
            <a:ext cx="9043683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the linear dependency test (F-test) and total dependency test (chi2), we get the following conclusions: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following features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are important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predict the failed units.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SMSR, SMSR2,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MPDCurrent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following features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are not important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a very high probability: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ForwardVoltage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CNR-61, CTB,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Slopeff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B_const_K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LaserTemprature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RTH_Kohm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Chirp,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Iop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080"/>
            <a:ext cx="9144000" cy="160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20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069700" y="6576577"/>
            <a:ext cx="157787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Features Used :</a:t>
            </a:r>
          </a:p>
          <a:p>
            <a:r>
              <a:rPr lang="en-US" dirty="0"/>
              <a:t>[]</a:t>
            </a:r>
          </a:p>
          <a:p>
            <a:r>
              <a:rPr lang="en-US" dirty="0"/>
              <a:t>Importance Values :</a:t>
            </a:r>
          </a:p>
          <a:p>
            <a:r>
              <a:rPr lang="en-US" dirty="0"/>
              <a:t>[0.035, 0.039, 0.037, 0.0435, 0.107, 0.0628, 0.0342, 0.0496, 0.0232, 0.024, 0.0197, 0.015, 0.0377, 0.0317, 0.035, 0.0294, 0.0448, 0.0428, 0.03607, 0.03251, 0.2170]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Model on Feature Importance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583590"/>
              </p:ext>
            </p:extLst>
          </p:nvPr>
        </p:nvGraphicFramePr>
        <p:xfrm>
          <a:off x="2393531" y="881093"/>
          <a:ext cx="3767953" cy="5269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977">
                  <a:extLst>
                    <a:ext uri="{9D8B030D-6E8A-4147-A177-3AD203B41FA5}">
                      <a16:colId xmlns:a16="http://schemas.microsoft.com/office/drawing/2014/main" val="3507255510"/>
                    </a:ext>
                  </a:extLst>
                </a:gridCol>
                <a:gridCol w="2211976">
                  <a:extLst>
                    <a:ext uri="{9D8B030D-6E8A-4147-A177-3AD203B41FA5}">
                      <a16:colId xmlns:a16="http://schemas.microsoft.com/office/drawing/2014/main" val="1323400723"/>
                    </a:ext>
                  </a:extLst>
                </a:gridCol>
              </a:tblGrid>
              <a:tr h="1813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Feature Importance Value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048785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0.217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036535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0.107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83822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0.0628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5378081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7154490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106887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8120018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35511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0304776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4940566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Chirp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4106149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0.03607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919631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994976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036174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548239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0.03251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5082305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9725761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6594542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TrackingError_Min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0331798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631424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289015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80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710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784" y="627641"/>
            <a:ext cx="6067425" cy="29432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 and Station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2607" y="1259506"/>
            <a:ext cx="2604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Total number of operations = 9</a:t>
            </a:r>
          </a:p>
        </p:txBody>
      </p:sp>
      <p:sp>
        <p:nvSpPr>
          <p:cNvPr id="12" name="Oval 11"/>
          <p:cNvSpPr/>
          <p:nvPr/>
        </p:nvSpPr>
        <p:spPr>
          <a:xfrm>
            <a:off x="5725886" y="1621788"/>
            <a:ext cx="496388" cy="2264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2" idx="7"/>
          </p:cNvCxnSpPr>
          <p:nvPr/>
        </p:nvCxnSpPr>
        <p:spPr>
          <a:xfrm flipV="1">
            <a:off x="6149580" y="1550126"/>
            <a:ext cx="286054" cy="104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60" y="3923007"/>
            <a:ext cx="4257674" cy="235194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464" y="3901625"/>
            <a:ext cx="4048821" cy="23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2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070" y="802975"/>
            <a:ext cx="83210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3829, number of failed = 52, failure Percentage = 1.33 %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1416, number of failed = 9, failure Percentage = 0.63 %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passed = 1779, number of failed = 32, failure Percentage = 1.76 %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passed = 2353, number of failed = 25, failure Percentage = 1.051 %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passed = 3409, number of failed = 67, failure Percentage = 1.92 %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5: number of passed = 3307, number of failed = 41, failure Percentage = 1.22 %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6: number of passed = 464, number of failed = 1, failure Percentage = 0.21 % 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1.35%</a:t>
            </a:r>
            <a:endParaRPr lang="en-US" b="1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118110" y="680323"/>
            <a:ext cx="8577943" cy="1723090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Rectangle 8"/>
          <p:cNvSpPr/>
          <p:nvPr/>
        </p:nvSpPr>
        <p:spPr>
          <a:xfrm>
            <a:off x="440328" y="580016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 Clusters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2006" y="2463799"/>
          <a:ext cx="9131994" cy="438467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29991">
                  <a:extLst>
                    <a:ext uri="{9D8B030D-6E8A-4147-A177-3AD203B41FA5}">
                      <a16:colId xmlns:a16="http://schemas.microsoft.com/office/drawing/2014/main" val="3507255510"/>
                    </a:ext>
                  </a:extLst>
                </a:gridCol>
                <a:gridCol w="689333">
                  <a:extLst>
                    <a:ext uri="{9D8B030D-6E8A-4147-A177-3AD203B41FA5}">
                      <a16:colId xmlns:a16="http://schemas.microsoft.com/office/drawing/2014/main" val="1323400723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78521291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4084569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699753287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85317280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21617266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767909910"/>
                    </a:ext>
                  </a:extLst>
                </a:gridCol>
              </a:tblGrid>
              <a:tr h="416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Feature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</a:rPr>
                        <a:t>Cluster 0 Center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Cluster 1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Center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Cluster 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Center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Cluster 3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Center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Cluster 4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Center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Cluster 5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Center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Cluster 6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Center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048785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Ith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16.4889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16.9636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16.6871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16.8120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16.4407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16.6787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17.4271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036535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Slopeff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0.1913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0.2101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83822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Chirp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348.9523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351.2543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347.2012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350.8093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347.9272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350.0452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353.1782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537808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WaveLen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1551.4352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1550.5321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1549.4805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1552.0674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1550.4798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1552.2901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1548.7656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7154490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SMSR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36.3532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36.5203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36.3131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36.5068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36.3154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36.1695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36.2672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106887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CSO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41.6607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41.6824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41.7054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41.6603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41.7067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41.6419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41.5770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8120018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CTB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71.1294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69.8380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70.6632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70.4553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70.9949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70.9074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69.5170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535511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MPDCurrent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446.4344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752.6545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260.8967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631.5508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359.9608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533.5774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939.8961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0304776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TrackingError_Max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4940566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TrackingError_Min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-0.1276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-0.1249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4106149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ForwardVoltage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1.1111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1.1378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1.1281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1.1185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1.1590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91963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FreqResponse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0.8230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0.8449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0.8228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994976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ChirpParameter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-5.7532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-5.9522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-5.7958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-5.8928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-5.7217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-5.8365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-6.1477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5036174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LsrTemperature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28.5263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28.7000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28.4903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28.6223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28.5181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28.4745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28.9712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548239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72.3498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81.0401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67.5282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78.4884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69.4624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75.6821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86.8689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5082305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CNR_61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52.6786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52.5465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52.7125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52.5963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52.6982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52.6523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52.5275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972576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CNR_547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53.5169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53.5099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53.4371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53.5321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53.4920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53.5367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53.4959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6594542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B_Const_K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3952.4483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3953.1559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3953.0188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3952.6992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3952.5707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3952.6205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3953.8049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0331798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RTH_Kohm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8.6773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8.6152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8.6905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8.6486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8.6797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8.7050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8.5172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6314243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CNR_294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53.2839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53.1983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53.3053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53.2172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53.3082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53.2634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53.1553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890154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SMSR2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50.1081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49.7347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49.8497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50.1335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49.9581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50.1031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49.3607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980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64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" y="786842"/>
            <a:ext cx="83210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4636, number of failed = 54, failure percentage=1.15%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2799, number of failed = 31, failure percentage=1.09%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passed = 5085, number of failed = 81, failure percentage=1.56%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passed = 3119, number of failed = 58, failure percentage=1.82%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passed = 918,   number of failed = 3,   failure percentage=0.32%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26720" y="664190"/>
            <a:ext cx="8577943" cy="1292203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48938" y="563883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1.35%</a:t>
            </a:r>
            <a:endParaRPr lang="en-US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8938" y="2079045"/>
          <a:ext cx="7175863" cy="43453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18543">
                  <a:extLst>
                    <a:ext uri="{9D8B030D-6E8A-4147-A177-3AD203B41FA5}">
                      <a16:colId xmlns:a16="http://schemas.microsoft.com/office/drawing/2014/main" val="176754951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65163401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84738524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044065983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72376593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36613622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Cluster 0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Center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Cluster 1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Center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Cluster 2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Center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Cluster 3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Center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Cluster 4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Center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92399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Ith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16.8770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16.4581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16.5770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17.2455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16.6573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2915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Slopeff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0.1710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0.1950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0.2080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0.1572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0.1815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905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Chirp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350.6427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348.8953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347.0892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352.2548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350.0098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3807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WaveLen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1551.5077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1551.2385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1549.5798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1549.5578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1552.1613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2543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SMSR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36.5051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36.2974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36.3515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36.2972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36.2806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65754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CSO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41.6745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41.6590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41.7380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41.6195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41.6460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7772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CTB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70.2371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71.1056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70.7497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69.5880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70.9224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8857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MPDCurrent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671.6267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412.8299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291.5162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873.2208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530.6565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69900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TrackingError_Max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38084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TrackingError_Min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-0.1383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439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ForwardVoltage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1.1315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1.1510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1.1185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9270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FreqResponse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0.8123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0.8454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0.8233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6648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ChirpParameter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-5.9127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-5.7419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-5.7564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-6.0684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-5.8281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9181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LsrTemperature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28.6507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28.5112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28.5428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28.9234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28.4672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9797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Iop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79.3869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71.2090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67.8980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84.4741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75.5538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8272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CNR_61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52.5826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52.6918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52.7025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52.5163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52.6497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6285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CNR_547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53.5207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53.5121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53.4546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53.5337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6175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B_Const_K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3952.9208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3952.4797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3952.9662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3953.5547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3952.4710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62559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RTH_Kohm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8.6393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8.6828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8.6689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8.5281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8.7065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19299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CNR_294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53.2184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53.3127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53.1420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53.2585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8019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SMSR2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49.9855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50.0374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49.8851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49.4756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50.1461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1026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128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6720" y="801046"/>
            <a:ext cx="83210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7052, number of failed = 96,   failure percentage=1.65%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2835, number of failed = 19,   failure percentage=0.66%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passed = 6670, number of failed = 112,  failure percentage=1.34%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365760" y="678394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87978" y="578087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1.35%</a:t>
            </a:r>
            <a:endParaRPr lang="en-US" b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692275" y="1752600"/>
          <a:ext cx="4559299" cy="43453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70760">
                  <a:extLst>
                    <a:ext uri="{9D8B030D-6E8A-4147-A177-3AD203B41FA5}">
                      <a16:colId xmlns:a16="http://schemas.microsoft.com/office/drawing/2014/main" val="3803322308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600283675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518209919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14196014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Cluster 0 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 Center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Cluster 1 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 Center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Cluster 2 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 Center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60114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16.5165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16.9870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16.6425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4547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Slopeff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363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Chirp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348.1330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351.2152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349.7457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67886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WaveLen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1550.3856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1550.6459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1552.0423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4422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SMSR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36.3332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36.4670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36.2910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3419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CSO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41.6955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41.6651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41.6496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1347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CTB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70.9401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69.9199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70.9181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86262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MPDCurrent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346.5878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753.1221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525.0099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48861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TrackingError_Max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422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TrackingError_Min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-0.1285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8964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ForwardVoltage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1.1390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1.1180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8578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FreqResponse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0.8260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4713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ChirpParameter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-5.7510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-5.9605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-5.8187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0218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LsrTemperature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28.5259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28.7388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28.4999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489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69.3635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81.4043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75.2161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7511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CNR_61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52.7012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52.5529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52.6497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8984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CNR_547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53.4844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53.5119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53.5289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07592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B_Const_K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3952.6994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3953.1785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3952.5160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7477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RTH_Kohm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8.6761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8.6046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8.6925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6579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CNR_294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53.3085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53.1883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53.2588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0195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SMSR2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49.9566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49.7764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50.1289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9131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80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4345" y="1024687"/>
            <a:ext cx="8321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10486, number of failed = 172, failure percentage=0.90%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6071,   number of failed = 55,   failure percentage=1.61% 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13385" y="902035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35603" y="801728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1.35%</a:t>
            </a:r>
            <a:endParaRPr lang="en-US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00225" y="1886003"/>
          <a:ext cx="3543300" cy="43453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52304064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91246484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8211619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Cluster 0 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 Center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Cluster 1 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 Center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284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16.8565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16.5324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4056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Slopeff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0.1966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38490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Chirp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351.0070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348.3946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2395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WaveLen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1551.5776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1550.8830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5017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SMSR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36.4152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36.2938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05394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CSO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41.6502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41.6825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77525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CTB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70.3479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70.9909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5933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MPDCurrent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660.0330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395.6332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5595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TrackingError_Max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9060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TrackingError_Min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-0.1296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-0.1360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6323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ForwardVoltage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1.1303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79282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FreqResponse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2584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ChirpParameter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-5.9126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-5.7600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5265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LsrTemperature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28.6189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28.5123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8058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79.0892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70.9438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9712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CNR_61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52.5958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52.6873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3015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CNR_547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53.5275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53.4969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27088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B_Const_K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3952.8818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3952.6006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4247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RTH_Kohm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8.6829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92591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CNR_294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53.2202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53.2935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50343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SMSR2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49.9966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50.0009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379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680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1381</Words>
  <Application>Microsoft Office PowerPoint</Application>
  <PresentationFormat>On-screen Show (4:3)</PresentationFormat>
  <Paragraphs>608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Morteza Ziyadi</dc:creator>
  <cp:lastModifiedBy>Morteza Ziyadi</cp:lastModifiedBy>
  <cp:revision>31</cp:revision>
  <dcterms:created xsi:type="dcterms:W3CDTF">2017-03-27T17:05:40Z</dcterms:created>
  <dcterms:modified xsi:type="dcterms:W3CDTF">2017-03-28T20:12:34Z</dcterms:modified>
</cp:coreProperties>
</file>