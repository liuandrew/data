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56" r:id="rId2"/>
    <p:sldId id="257" r:id="rId3"/>
    <p:sldId id="259" r:id="rId4"/>
    <p:sldId id="260" r:id="rId5"/>
    <p:sldId id="261" r:id="rId6"/>
    <p:sldId id="262" r:id="rId7"/>
    <p:sldId id="263" r:id="rId8"/>
    <p:sldId id="258"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97" autoAdjust="0"/>
    <p:restoredTop sz="79243" autoAdjust="0"/>
  </p:normalViewPr>
  <p:slideViewPr>
    <p:cSldViewPr snapToGrid="0">
      <p:cViewPr varScale="1">
        <p:scale>
          <a:sx n="75" d="100"/>
          <a:sy n="75" d="100"/>
        </p:scale>
        <p:origin x="1086"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58361EC-BD5C-49B7-BD2A-62BD7E34BC29}" type="datetimeFigureOut">
              <a:rPr lang="en-US" smtClean="0"/>
              <a:t>10/12/2017</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04F87DF-1E4E-4FC0-999C-DE7B58D1E837}" type="slidenum">
              <a:rPr lang="en-US" smtClean="0"/>
              <a:t>‹#›</a:t>
            </a:fld>
            <a:endParaRPr lang="en-US"/>
          </a:p>
        </p:txBody>
      </p:sp>
    </p:spTree>
    <p:extLst>
      <p:ext uri="{BB962C8B-B14F-4D97-AF65-F5344CB8AC3E}">
        <p14:creationId xmlns:p14="http://schemas.microsoft.com/office/powerpoint/2010/main" val="5600288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04F87DF-1E4E-4FC0-999C-DE7B58D1E837}" type="slidenum">
              <a:rPr lang="en-US" smtClean="0"/>
              <a:t>2</a:t>
            </a:fld>
            <a:endParaRPr lang="en-US"/>
          </a:p>
        </p:txBody>
      </p:sp>
    </p:spTree>
    <p:extLst>
      <p:ext uri="{BB962C8B-B14F-4D97-AF65-F5344CB8AC3E}">
        <p14:creationId xmlns:p14="http://schemas.microsoft.com/office/powerpoint/2010/main" val="34732562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Either real values or “unit values” can be used in the naïve model. </a:t>
            </a:r>
          </a:p>
          <a:p>
            <a:endParaRPr lang="en-US" dirty="0"/>
          </a:p>
          <a:p>
            <a:r>
              <a:rPr lang="en-US" dirty="0"/>
              <a:t>While real values could potentially provide us with real numbers, the model is ignorant to many outside costs such as labor and storage. The real values of input and output units become very hard to accurately estimate without details from outside the model, and are want to provide inaccurate results.</a:t>
            </a:r>
          </a:p>
          <a:p>
            <a:endParaRPr lang="en-US" dirty="0"/>
          </a:p>
          <a:p>
            <a:r>
              <a:rPr lang="en-US" dirty="0"/>
              <a:t>Instead, by considering every unit as a value of 1, we can retrieve results that suggest the costs of using the system, and the metric becomes a measure of the health of the system</a:t>
            </a:r>
          </a:p>
          <a:p>
            <a:endParaRPr lang="en-US" dirty="0"/>
          </a:p>
          <a:p>
            <a:endParaRPr lang="en-US" dirty="0"/>
          </a:p>
        </p:txBody>
      </p:sp>
      <p:sp>
        <p:nvSpPr>
          <p:cNvPr id="4" name="Slide Number Placeholder 3"/>
          <p:cNvSpPr>
            <a:spLocks noGrp="1"/>
          </p:cNvSpPr>
          <p:nvPr>
            <p:ph type="sldNum" sz="quarter" idx="10"/>
          </p:nvPr>
        </p:nvSpPr>
        <p:spPr/>
        <p:txBody>
          <a:bodyPr/>
          <a:lstStyle/>
          <a:p>
            <a:fld id="{A04F87DF-1E4E-4FC0-999C-DE7B58D1E837}" type="slidenum">
              <a:rPr lang="en-US" smtClean="0"/>
              <a:t>3</a:t>
            </a:fld>
            <a:endParaRPr lang="en-US"/>
          </a:p>
        </p:txBody>
      </p:sp>
    </p:spTree>
    <p:extLst>
      <p:ext uri="{BB962C8B-B14F-4D97-AF65-F5344CB8AC3E}">
        <p14:creationId xmlns:p14="http://schemas.microsoft.com/office/powerpoint/2010/main" val="31201316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normalized version of this model always provides a </a:t>
            </a:r>
            <a:r>
              <a:rPr lang="el-GR" sz="1200" dirty="0"/>
              <a:t>Δ</a:t>
            </a:r>
            <a:r>
              <a:rPr lang="en-US" sz="1200" dirty="0"/>
              <a:t>V output that is negative, or at best, equal to 0</a:t>
            </a:r>
          </a:p>
          <a:p>
            <a:endParaRPr lang="en-US" sz="1200" dirty="0"/>
          </a:p>
          <a:p>
            <a:r>
              <a:rPr lang="el-GR" sz="1200" dirty="0"/>
              <a:t>Δ</a:t>
            </a:r>
            <a:r>
              <a:rPr lang="en-US" sz="1200" dirty="0"/>
              <a:t>V in essence represents the costs associated with adding units to a system over a period of time, in terms of how many of those added units actually get used</a:t>
            </a:r>
          </a:p>
        </p:txBody>
      </p:sp>
      <p:sp>
        <p:nvSpPr>
          <p:cNvPr id="4" name="Slide Number Placeholder 3"/>
          <p:cNvSpPr>
            <a:spLocks noGrp="1"/>
          </p:cNvSpPr>
          <p:nvPr>
            <p:ph type="sldNum" sz="quarter" idx="10"/>
          </p:nvPr>
        </p:nvSpPr>
        <p:spPr/>
        <p:txBody>
          <a:bodyPr/>
          <a:lstStyle/>
          <a:p>
            <a:fld id="{A04F87DF-1E4E-4FC0-999C-DE7B58D1E837}" type="slidenum">
              <a:rPr lang="en-US" smtClean="0"/>
              <a:t>4</a:t>
            </a:fld>
            <a:endParaRPr lang="en-US"/>
          </a:p>
        </p:txBody>
      </p:sp>
    </p:spTree>
    <p:extLst>
      <p:ext uri="{BB962C8B-B14F-4D97-AF65-F5344CB8AC3E}">
        <p14:creationId xmlns:p14="http://schemas.microsoft.com/office/powerpoint/2010/main" val="36068443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 less naïve model we consider that multiple inputs/inventories are competing to fulfil the same outputs. </a:t>
            </a:r>
          </a:p>
          <a:p>
            <a:endParaRPr lang="en-US" dirty="0"/>
          </a:p>
          <a:p>
            <a:r>
              <a:rPr lang="en-US" dirty="0"/>
              <a:t>The number of units that can actually leave inventory is limited by the orders for a given output. We don’t need to directly factor this into the calculation of </a:t>
            </a:r>
            <a:r>
              <a:rPr lang="el-GR" sz="1200" dirty="0"/>
              <a:t>Δ</a:t>
            </a:r>
            <a:r>
              <a:rPr lang="en-US" sz="1200" dirty="0"/>
              <a:t>V necessarily (though we may see it in later equations), but it does influence </a:t>
            </a:r>
            <a:r>
              <a:rPr lang="el-GR" sz="1200" dirty="0"/>
              <a:t>Δ</a:t>
            </a:r>
            <a:r>
              <a:rPr lang="en-US" sz="1200" dirty="0"/>
              <a:t>O and </a:t>
            </a:r>
            <a:r>
              <a:rPr lang="el-GR" sz="1200" dirty="0"/>
              <a:t>Δ</a:t>
            </a:r>
            <a:r>
              <a:rPr lang="en-US" sz="1200" dirty="0"/>
              <a:t>N. For example, if we hold </a:t>
            </a:r>
            <a:r>
              <a:rPr lang="el-GR" sz="1200" dirty="0"/>
              <a:t>Δ</a:t>
            </a:r>
            <a:r>
              <a:rPr lang="en-US" sz="1200" dirty="0"/>
              <a:t>I constant (e.g. 50 units come in weekly, no matter what), but the number of orders goes down, then </a:t>
            </a:r>
            <a:r>
              <a:rPr lang="el-GR" sz="1200" dirty="0"/>
              <a:t>Δ</a:t>
            </a:r>
            <a:r>
              <a:rPr lang="en-US" sz="1200" dirty="0"/>
              <a:t>O decreases (less orders fulfilled), while </a:t>
            </a:r>
            <a:r>
              <a:rPr lang="el-GR" sz="1200" dirty="0"/>
              <a:t>Δ</a:t>
            </a:r>
            <a:r>
              <a:rPr lang="en-US" sz="1200" dirty="0"/>
              <a:t>N increases (units get added to inventory, but also depreciate in value over time) and overall, </a:t>
            </a:r>
            <a:r>
              <a:rPr lang="el-GR" sz="1200" dirty="0"/>
              <a:t>Δ</a:t>
            </a:r>
            <a:r>
              <a:rPr lang="en-US" sz="1200" dirty="0"/>
              <a:t>V becomes more negative.</a:t>
            </a:r>
          </a:p>
          <a:p>
            <a:endParaRPr lang="en-US" sz="1200" dirty="0"/>
          </a:p>
          <a:p>
            <a:r>
              <a:rPr lang="en-US" sz="1200" dirty="0"/>
              <a:t>In other words, a decrease in orders without adjustment on input leads to a more negative </a:t>
            </a:r>
            <a:r>
              <a:rPr lang="el-GR" sz="1200" dirty="0"/>
              <a:t>Δ</a:t>
            </a:r>
            <a:r>
              <a:rPr lang="en-US" sz="1200" dirty="0"/>
              <a:t>V, indicating worse health of the process.</a:t>
            </a:r>
            <a:endParaRPr lang="en-US" dirty="0"/>
          </a:p>
        </p:txBody>
      </p:sp>
      <p:sp>
        <p:nvSpPr>
          <p:cNvPr id="4" name="Slide Number Placeholder 3"/>
          <p:cNvSpPr>
            <a:spLocks noGrp="1"/>
          </p:cNvSpPr>
          <p:nvPr>
            <p:ph type="sldNum" sz="quarter" idx="10"/>
          </p:nvPr>
        </p:nvSpPr>
        <p:spPr/>
        <p:txBody>
          <a:bodyPr/>
          <a:lstStyle/>
          <a:p>
            <a:fld id="{A04F87DF-1E4E-4FC0-999C-DE7B58D1E837}" type="slidenum">
              <a:rPr lang="en-US" smtClean="0"/>
              <a:t>5</a:t>
            </a:fld>
            <a:endParaRPr lang="en-US"/>
          </a:p>
        </p:txBody>
      </p:sp>
    </p:spTree>
    <p:extLst>
      <p:ext uri="{BB962C8B-B14F-4D97-AF65-F5344CB8AC3E}">
        <p14:creationId xmlns:p14="http://schemas.microsoft.com/office/powerpoint/2010/main" val="28185537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now shows a more realistic model of how units are used. </a:t>
            </a:r>
          </a:p>
          <a:p>
            <a:endParaRPr lang="en-US" dirty="0"/>
          </a:p>
          <a:p>
            <a:r>
              <a:rPr lang="en-US" dirty="0"/>
              <a:t>The % chance for a unit in inventory to output gives us an idea of how inventory value decreases over time. If a unit doesn’t get selected for output, it stays in inventory. It might stay in inventory because it failed a test already, or just because it isn’t selected. In any case, over time the chance for it to become an output decreases, and so its value decreases, hence the entire inventory value decreases over time.</a:t>
            </a:r>
          </a:p>
        </p:txBody>
      </p:sp>
      <p:sp>
        <p:nvSpPr>
          <p:cNvPr id="4" name="Slide Number Placeholder 3"/>
          <p:cNvSpPr>
            <a:spLocks noGrp="1"/>
          </p:cNvSpPr>
          <p:nvPr>
            <p:ph type="sldNum" sz="quarter" idx="10"/>
          </p:nvPr>
        </p:nvSpPr>
        <p:spPr/>
        <p:txBody>
          <a:bodyPr/>
          <a:lstStyle/>
          <a:p>
            <a:fld id="{A04F87DF-1E4E-4FC0-999C-DE7B58D1E837}" type="slidenum">
              <a:rPr lang="en-US" smtClean="0"/>
              <a:t>6</a:t>
            </a:fld>
            <a:endParaRPr lang="en-US"/>
          </a:p>
        </p:txBody>
      </p:sp>
    </p:spTree>
    <p:extLst>
      <p:ext uri="{BB962C8B-B14F-4D97-AF65-F5344CB8AC3E}">
        <p14:creationId xmlns:p14="http://schemas.microsoft.com/office/powerpoint/2010/main" val="13234179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1:</a:t>
            </a:r>
          </a:p>
          <a:p>
            <a:r>
              <a:rPr lang="en-US" dirty="0"/>
              <a:t>When a fresh unit comes in, it comes in with a value of 1. It cannot decrease in value just for existing in the inventory, because it is still the same unit that just came in</a:t>
            </a:r>
          </a:p>
          <a:p>
            <a:r>
              <a:rPr lang="en-US" dirty="0"/>
              <a:t>If it passes the 50% test, it becomes an output with a value of 1. </a:t>
            </a:r>
            <a:r>
              <a:rPr lang="el-GR" sz="1200" dirty="0"/>
              <a:t>Δ</a:t>
            </a:r>
            <a:r>
              <a:rPr lang="en-US" sz="1200"/>
              <a:t>V = 0</a:t>
            </a:r>
            <a:endParaRPr lang="en-US" dirty="0"/>
          </a:p>
        </p:txBody>
      </p:sp>
      <p:sp>
        <p:nvSpPr>
          <p:cNvPr id="4" name="Slide Number Placeholder 3"/>
          <p:cNvSpPr>
            <a:spLocks noGrp="1"/>
          </p:cNvSpPr>
          <p:nvPr>
            <p:ph type="sldNum" sz="quarter" idx="10"/>
          </p:nvPr>
        </p:nvSpPr>
        <p:spPr/>
        <p:txBody>
          <a:bodyPr/>
          <a:lstStyle/>
          <a:p>
            <a:fld id="{A04F87DF-1E4E-4FC0-999C-DE7B58D1E837}" type="slidenum">
              <a:rPr lang="en-US" smtClean="0"/>
              <a:t>7</a:t>
            </a:fld>
            <a:endParaRPr lang="en-US"/>
          </a:p>
        </p:txBody>
      </p:sp>
    </p:spTree>
    <p:extLst>
      <p:ext uri="{BB962C8B-B14F-4D97-AF65-F5344CB8AC3E}">
        <p14:creationId xmlns:p14="http://schemas.microsoft.com/office/powerpoint/2010/main" val="24412099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DEE7C9-59AC-45FF-9A21-253B9C10CDA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87CFEB3-A898-4630-9A43-0FA56B7ED4E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16751A9-2167-4262-B112-E2845E1F43EB}"/>
              </a:ext>
            </a:extLst>
          </p:cNvPr>
          <p:cNvSpPr>
            <a:spLocks noGrp="1"/>
          </p:cNvSpPr>
          <p:nvPr>
            <p:ph type="dt" sz="half" idx="10"/>
          </p:nvPr>
        </p:nvSpPr>
        <p:spPr/>
        <p:txBody>
          <a:bodyPr/>
          <a:lstStyle/>
          <a:p>
            <a:fld id="{9DAF7530-DEA6-41FA-AEA5-6DAA80B8D238}" type="datetimeFigureOut">
              <a:rPr lang="en-US" smtClean="0"/>
              <a:t>10/12/2017</a:t>
            </a:fld>
            <a:endParaRPr lang="en-US"/>
          </a:p>
        </p:txBody>
      </p:sp>
      <p:sp>
        <p:nvSpPr>
          <p:cNvPr id="5" name="Footer Placeholder 4">
            <a:extLst>
              <a:ext uri="{FF2B5EF4-FFF2-40B4-BE49-F238E27FC236}">
                <a16:creationId xmlns:a16="http://schemas.microsoft.com/office/drawing/2014/main" id="{EAA52AB2-54A5-4E62-94A7-3EE477B070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9BC8512-815E-4B43-86E5-18D59D1BA862}"/>
              </a:ext>
            </a:extLst>
          </p:cNvPr>
          <p:cNvSpPr>
            <a:spLocks noGrp="1"/>
          </p:cNvSpPr>
          <p:nvPr>
            <p:ph type="sldNum" sz="quarter" idx="12"/>
          </p:nvPr>
        </p:nvSpPr>
        <p:spPr/>
        <p:txBody>
          <a:bodyPr/>
          <a:lstStyle/>
          <a:p>
            <a:fld id="{BBDD7173-52E2-4C17-BE38-1D8C30D9550E}" type="slidenum">
              <a:rPr lang="en-US" smtClean="0"/>
              <a:t>‹#›</a:t>
            </a:fld>
            <a:endParaRPr lang="en-US"/>
          </a:p>
        </p:txBody>
      </p:sp>
    </p:spTree>
    <p:extLst>
      <p:ext uri="{BB962C8B-B14F-4D97-AF65-F5344CB8AC3E}">
        <p14:creationId xmlns:p14="http://schemas.microsoft.com/office/powerpoint/2010/main" val="38511732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2DF449-E060-4899-B971-7D2AB598996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B84F53D-9DC0-40F5-AD31-E4867AB88934}"/>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C86E8A8-00CC-434E-9C24-78C28794C2E8}"/>
              </a:ext>
            </a:extLst>
          </p:cNvPr>
          <p:cNvSpPr>
            <a:spLocks noGrp="1"/>
          </p:cNvSpPr>
          <p:nvPr>
            <p:ph type="dt" sz="half" idx="10"/>
          </p:nvPr>
        </p:nvSpPr>
        <p:spPr/>
        <p:txBody>
          <a:bodyPr/>
          <a:lstStyle/>
          <a:p>
            <a:fld id="{9DAF7530-DEA6-41FA-AEA5-6DAA80B8D238}" type="datetimeFigureOut">
              <a:rPr lang="en-US" smtClean="0"/>
              <a:t>10/12/2017</a:t>
            </a:fld>
            <a:endParaRPr lang="en-US"/>
          </a:p>
        </p:txBody>
      </p:sp>
      <p:sp>
        <p:nvSpPr>
          <p:cNvPr id="5" name="Footer Placeholder 4">
            <a:extLst>
              <a:ext uri="{FF2B5EF4-FFF2-40B4-BE49-F238E27FC236}">
                <a16:creationId xmlns:a16="http://schemas.microsoft.com/office/drawing/2014/main" id="{60E5B444-E98B-4924-9588-710C1F20F58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D3780B8-55D4-4ECF-97BC-730C345E6FB0}"/>
              </a:ext>
            </a:extLst>
          </p:cNvPr>
          <p:cNvSpPr>
            <a:spLocks noGrp="1"/>
          </p:cNvSpPr>
          <p:nvPr>
            <p:ph type="sldNum" sz="quarter" idx="12"/>
          </p:nvPr>
        </p:nvSpPr>
        <p:spPr/>
        <p:txBody>
          <a:bodyPr/>
          <a:lstStyle/>
          <a:p>
            <a:fld id="{BBDD7173-52E2-4C17-BE38-1D8C30D9550E}" type="slidenum">
              <a:rPr lang="en-US" smtClean="0"/>
              <a:t>‹#›</a:t>
            </a:fld>
            <a:endParaRPr lang="en-US"/>
          </a:p>
        </p:txBody>
      </p:sp>
    </p:spTree>
    <p:extLst>
      <p:ext uri="{BB962C8B-B14F-4D97-AF65-F5344CB8AC3E}">
        <p14:creationId xmlns:p14="http://schemas.microsoft.com/office/powerpoint/2010/main" val="13718304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3DAF68-C641-49E2-8A33-7C637749E98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D596560-60BC-4AA6-A592-AD8388DB231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A6E4CBEB-A3FF-4E5B-8A0A-6112789FCBF6}"/>
              </a:ext>
            </a:extLst>
          </p:cNvPr>
          <p:cNvSpPr>
            <a:spLocks noGrp="1"/>
          </p:cNvSpPr>
          <p:nvPr>
            <p:ph type="dt" sz="half" idx="10"/>
          </p:nvPr>
        </p:nvSpPr>
        <p:spPr/>
        <p:txBody>
          <a:bodyPr/>
          <a:lstStyle/>
          <a:p>
            <a:fld id="{9DAF7530-DEA6-41FA-AEA5-6DAA80B8D238}" type="datetimeFigureOut">
              <a:rPr lang="en-US" smtClean="0"/>
              <a:t>10/12/2017</a:t>
            </a:fld>
            <a:endParaRPr lang="en-US"/>
          </a:p>
        </p:txBody>
      </p:sp>
      <p:sp>
        <p:nvSpPr>
          <p:cNvPr id="5" name="Footer Placeholder 4">
            <a:extLst>
              <a:ext uri="{FF2B5EF4-FFF2-40B4-BE49-F238E27FC236}">
                <a16:creationId xmlns:a16="http://schemas.microsoft.com/office/drawing/2014/main" id="{C8EA37A2-0C17-4DE1-B2CA-F6B54FA7B24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26398E0-F2CF-4EEE-98EC-E10DDBB4F8FC}"/>
              </a:ext>
            </a:extLst>
          </p:cNvPr>
          <p:cNvSpPr>
            <a:spLocks noGrp="1"/>
          </p:cNvSpPr>
          <p:nvPr>
            <p:ph type="sldNum" sz="quarter" idx="12"/>
          </p:nvPr>
        </p:nvSpPr>
        <p:spPr/>
        <p:txBody>
          <a:bodyPr/>
          <a:lstStyle/>
          <a:p>
            <a:fld id="{BBDD7173-52E2-4C17-BE38-1D8C30D9550E}" type="slidenum">
              <a:rPr lang="en-US" smtClean="0"/>
              <a:t>‹#›</a:t>
            </a:fld>
            <a:endParaRPr lang="en-US"/>
          </a:p>
        </p:txBody>
      </p:sp>
    </p:spTree>
    <p:extLst>
      <p:ext uri="{BB962C8B-B14F-4D97-AF65-F5344CB8AC3E}">
        <p14:creationId xmlns:p14="http://schemas.microsoft.com/office/powerpoint/2010/main" val="29559528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1469E6-267A-4524-B060-C9C7F1A2F6E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24F482D-F157-451C-9CCC-ED123021575F}"/>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D8D4730-DD52-4D44-ABD5-A64CE4CA03C5}"/>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06E6E55-5660-479D-ACFE-5E4ED979FCD0}"/>
              </a:ext>
            </a:extLst>
          </p:cNvPr>
          <p:cNvSpPr>
            <a:spLocks noGrp="1"/>
          </p:cNvSpPr>
          <p:nvPr>
            <p:ph type="dt" sz="half" idx="10"/>
          </p:nvPr>
        </p:nvSpPr>
        <p:spPr/>
        <p:txBody>
          <a:bodyPr/>
          <a:lstStyle/>
          <a:p>
            <a:fld id="{9DAF7530-DEA6-41FA-AEA5-6DAA80B8D238}" type="datetimeFigureOut">
              <a:rPr lang="en-US" smtClean="0"/>
              <a:t>10/12/2017</a:t>
            </a:fld>
            <a:endParaRPr lang="en-US"/>
          </a:p>
        </p:txBody>
      </p:sp>
      <p:sp>
        <p:nvSpPr>
          <p:cNvPr id="6" name="Footer Placeholder 5">
            <a:extLst>
              <a:ext uri="{FF2B5EF4-FFF2-40B4-BE49-F238E27FC236}">
                <a16:creationId xmlns:a16="http://schemas.microsoft.com/office/drawing/2014/main" id="{BF127C8D-A005-4315-842B-0981F1DA0F5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A3E0573-58C4-478F-859E-576A0989635D}"/>
              </a:ext>
            </a:extLst>
          </p:cNvPr>
          <p:cNvSpPr>
            <a:spLocks noGrp="1"/>
          </p:cNvSpPr>
          <p:nvPr>
            <p:ph type="sldNum" sz="quarter" idx="12"/>
          </p:nvPr>
        </p:nvSpPr>
        <p:spPr/>
        <p:txBody>
          <a:bodyPr/>
          <a:lstStyle/>
          <a:p>
            <a:fld id="{BBDD7173-52E2-4C17-BE38-1D8C30D9550E}" type="slidenum">
              <a:rPr lang="en-US" smtClean="0"/>
              <a:t>‹#›</a:t>
            </a:fld>
            <a:endParaRPr lang="en-US"/>
          </a:p>
        </p:txBody>
      </p:sp>
    </p:spTree>
    <p:extLst>
      <p:ext uri="{BB962C8B-B14F-4D97-AF65-F5344CB8AC3E}">
        <p14:creationId xmlns:p14="http://schemas.microsoft.com/office/powerpoint/2010/main" val="41120052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9719D6-4CD1-4757-BB4A-0D45A188D47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E2D5D65-BEC5-451A-84FA-3DCA9A33EC5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28EEDF65-A84F-46DC-B299-B93559373E38}"/>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00B4801-DCAD-46C9-A7D8-14EA1E7918E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B7AD0958-6324-489A-990E-72B6EED97531}"/>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D7552DA-C9A7-4A46-AAF7-68918E379CF5}"/>
              </a:ext>
            </a:extLst>
          </p:cNvPr>
          <p:cNvSpPr>
            <a:spLocks noGrp="1"/>
          </p:cNvSpPr>
          <p:nvPr>
            <p:ph type="dt" sz="half" idx="10"/>
          </p:nvPr>
        </p:nvSpPr>
        <p:spPr/>
        <p:txBody>
          <a:bodyPr/>
          <a:lstStyle/>
          <a:p>
            <a:fld id="{9DAF7530-DEA6-41FA-AEA5-6DAA80B8D238}" type="datetimeFigureOut">
              <a:rPr lang="en-US" smtClean="0"/>
              <a:t>10/12/2017</a:t>
            </a:fld>
            <a:endParaRPr lang="en-US"/>
          </a:p>
        </p:txBody>
      </p:sp>
      <p:sp>
        <p:nvSpPr>
          <p:cNvPr id="8" name="Footer Placeholder 7">
            <a:extLst>
              <a:ext uri="{FF2B5EF4-FFF2-40B4-BE49-F238E27FC236}">
                <a16:creationId xmlns:a16="http://schemas.microsoft.com/office/drawing/2014/main" id="{76F221B4-2F4D-4FEB-93A6-0454C601656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D8CA1F8-38AE-4BD5-9BA0-0B163B04559B}"/>
              </a:ext>
            </a:extLst>
          </p:cNvPr>
          <p:cNvSpPr>
            <a:spLocks noGrp="1"/>
          </p:cNvSpPr>
          <p:nvPr>
            <p:ph type="sldNum" sz="quarter" idx="12"/>
          </p:nvPr>
        </p:nvSpPr>
        <p:spPr/>
        <p:txBody>
          <a:bodyPr/>
          <a:lstStyle/>
          <a:p>
            <a:fld id="{BBDD7173-52E2-4C17-BE38-1D8C30D9550E}" type="slidenum">
              <a:rPr lang="en-US" smtClean="0"/>
              <a:t>‹#›</a:t>
            </a:fld>
            <a:endParaRPr lang="en-US"/>
          </a:p>
        </p:txBody>
      </p:sp>
    </p:spTree>
    <p:extLst>
      <p:ext uri="{BB962C8B-B14F-4D97-AF65-F5344CB8AC3E}">
        <p14:creationId xmlns:p14="http://schemas.microsoft.com/office/powerpoint/2010/main" val="37202736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91735A-6B71-4CF6-8075-45F51899D04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67AD492-0A3A-442E-B036-408BCF7DC974}"/>
              </a:ext>
            </a:extLst>
          </p:cNvPr>
          <p:cNvSpPr>
            <a:spLocks noGrp="1"/>
          </p:cNvSpPr>
          <p:nvPr>
            <p:ph type="dt" sz="half" idx="10"/>
          </p:nvPr>
        </p:nvSpPr>
        <p:spPr/>
        <p:txBody>
          <a:bodyPr/>
          <a:lstStyle/>
          <a:p>
            <a:fld id="{9DAF7530-DEA6-41FA-AEA5-6DAA80B8D238}" type="datetimeFigureOut">
              <a:rPr lang="en-US" smtClean="0"/>
              <a:t>10/12/2017</a:t>
            </a:fld>
            <a:endParaRPr lang="en-US"/>
          </a:p>
        </p:txBody>
      </p:sp>
      <p:sp>
        <p:nvSpPr>
          <p:cNvPr id="4" name="Footer Placeholder 3">
            <a:extLst>
              <a:ext uri="{FF2B5EF4-FFF2-40B4-BE49-F238E27FC236}">
                <a16:creationId xmlns:a16="http://schemas.microsoft.com/office/drawing/2014/main" id="{07238425-ACC1-47EA-B430-9A4F484FA37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42CDDD8-F5B3-4DB2-AAEB-5EF9E6A00632}"/>
              </a:ext>
            </a:extLst>
          </p:cNvPr>
          <p:cNvSpPr>
            <a:spLocks noGrp="1"/>
          </p:cNvSpPr>
          <p:nvPr>
            <p:ph type="sldNum" sz="quarter" idx="12"/>
          </p:nvPr>
        </p:nvSpPr>
        <p:spPr/>
        <p:txBody>
          <a:bodyPr/>
          <a:lstStyle/>
          <a:p>
            <a:fld id="{BBDD7173-52E2-4C17-BE38-1D8C30D9550E}" type="slidenum">
              <a:rPr lang="en-US" smtClean="0"/>
              <a:t>‹#›</a:t>
            </a:fld>
            <a:endParaRPr lang="en-US"/>
          </a:p>
        </p:txBody>
      </p:sp>
    </p:spTree>
    <p:extLst>
      <p:ext uri="{BB962C8B-B14F-4D97-AF65-F5344CB8AC3E}">
        <p14:creationId xmlns:p14="http://schemas.microsoft.com/office/powerpoint/2010/main" val="27505377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3B04414-4B89-4D50-86A7-EAE99C5D19BA}"/>
              </a:ext>
            </a:extLst>
          </p:cNvPr>
          <p:cNvSpPr>
            <a:spLocks noGrp="1"/>
          </p:cNvSpPr>
          <p:nvPr>
            <p:ph type="dt" sz="half" idx="10"/>
          </p:nvPr>
        </p:nvSpPr>
        <p:spPr/>
        <p:txBody>
          <a:bodyPr/>
          <a:lstStyle/>
          <a:p>
            <a:fld id="{9DAF7530-DEA6-41FA-AEA5-6DAA80B8D238}" type="datetimeFigureOut">
              <a:rPr lang="en-US" smtClean="0"/>
              <a:t>10/12/2017</a:t>
            </a:fld>
            <a:endParaRPr lang="en-US"/>
          </a:p>
        </p:txBody>
      </p:sp>
      <p:sp>
        <p:nvSpPr>
          <p:cNvPr id="3" name="Footer Placeholder 2">
            <a:extLst>
              <a:ext uri="{FF2B5EF4-FFF2-40B4-BE49-F238E27FC236}">
                <a16:creationId xmlns:a16="http://schemas.microsoft.com/office/drawing/2014/main" id="{4A86DD68-AE64-4ECD-8B10-0F2F8653BA6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0B5FE53-02E8-4D4F-B3CC-A5325355E7BB}"/>
              </a:ext>
            </a:extLst>
          </p:cNvPr>
          <p:cNvSpPr>
            <a:spLocks noGrp="1"/>
          </p:cNvSpPr>
          <p:nvPr>
            <p:ph type="sldNum" sz="quarter" idx="12"/>
          </p:nvPr>
        </p:nvSpPr>
        <p:spPr/>
        <p:txBody>
          <a:bodyPr/>
          <a:lstStyle/>
          <a:p>
            <a:fld id="{BBDD7173-52E2-4C17-BE38-1D8C30D9550E}" type="slidenum">
              <a:rPr lang="en-US" smtClean="0"/>
              <a:t>‹#›</a:t>
            </a:fld>
            <a:endParaRPr lang="en-US"/>
          </a:p>
        </p:txBody>
      </p:sp>
    </p:spTree>
    <p:extLst>
      <p:ext uri="{BB962C8B-B14F-4D97-AF65-F5344CB8AC3E}">
        <p14:creationId xmlns:p14="http://schemas.microsoft.com/office/powerpoint/2010/main" val="19243140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597461-0EC7-4CCD-8F0B-149ABEBE4CE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CA0188F-1F8D-4354-A30A-D2DF5425303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D2818B7-2843-4A56-AD52-F6EA0E4D415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C800B769-E4E7-441B-AC1F-33ECF844856E}"/>
              </a:ext>
            </a:extLst>
          </p:cNvPr>
          <p:cNvSpPr>
            <a:spLocks noGrp="1"/>
          </p:cNvSpPr>
          <p:nvPr>
            <p:ph type="dt" sz="half" idx="10"/>
          </p:nvPr>
        </p:nvSpPr>
        <p:spPr/>
        <p:txBody>
          <a:bodyPr/>
          <a:lstStyle/>
          <a:p>
            <a:fld id="{9DAF7530-DEA6-41FA-AEA5-6DAA80B8D238}" type="datetimeFigureOut">
              <a:rPr lang="en-US" smtClean="0"/>
              <a:t>10/12/2017</a:t>
            </a:fld>
            <a:endParaRPr lang="en-US"/>
          </a:p>
        </p:txBody>
      </p:sp>
      <p:sp>
        <p:nvSpPr>
          <p:cNvPr id="6" name="Footer Placeholder 5">
            <a:extLst>
              <a:ext uri="{FF2B5EF4-FFF2-40B4-BE49-F238E27FC236}">
                <a16:creationId xmlns:a16="http://schemas.microsoft.com/office/drawing/2014/main" id="{F6644F49-BBA7-4ECE-AB3D-06FCE0328F1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14DF460-73AC-4BE9-8402-17E97E18E1AF}"/>
              </a:ext>
            </a:extLst>
          </p:cNvPr>
          <p:cNvSpPr>
            <a:spLocks noGrp="1"/>
          </p:cNvSpPr>
          <p:nvPr>
            <p:ph type="sldNum" sz="quarter" idx="12"/>
          </p:nvPr>
        </p:nvSpPr>
        <p:spPr/>
        <p:txBody>
          <a:bodyPr/>
          <a:lstStyle/>
          <a:p>
            <a:fld id="{BBDD7173-52E2-4C17-BE38-1D8C30D9550E}" type="slidenum">
              <a:rPr lang="en-US" smtClean="0"/>
              <a:t>‹#›</a:t>
            </a:fld>
            <a:endParaRPr lang="en-US"/>
          </a:p>
        </p:txBody>
      </p:sp>
    </p:spTree>
    <p:extLst>
      <p:ext uri="{BB962C8B-B14F-4D97-AF65-F5344CB8AC3E}">
        <p14:creationId xmlns:p14="http://schemas.microsoft.com/office/powerpoint/2010/main" val="40888735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692F5A-C65D-49A8-825F-93C5AFC90F7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528E11E-1DA0-46EC-A401-C06D22CB9AF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3E424EF-D125-4A0A-B2D3-66AB2AC6A6B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82474B11-B900-4F6F-99B7-2A92A0069802}"/>
              </a:ext>
            </a:extLst>
          </p:cNvPr>
          <p:cNvSpPr>
            <a:spLocks noGrp="1"/>
          </p:cNvSpPr>
          <p:nvPr>
            <p:ph type="dt" sz="half" idx="10"/>
          </p:nvPr>
        </p:nvSpPr>
        <p:spPr/>
        <p:txBody>
          <a:bodyPr/>
          <a:lstStyle/>
          <a:p>
            <a:fld id="{9DAF7530-DEA6-41FA-AEA5-6DAA80B8D238}" type="datetimeFigureOut">
              <a:rPr lang="en-US" smtClean="0"/>
              <a:t>10/12/2017</a:t>
            </a:fld>
            <a:endParaRPr lang="en-US"/>
          </a:p>
        </p:txBody>
      </p:sp>
      <p:sp>
        <p:nvSpPr>
          <p:cNvPr id="6" name="Footer Placeholder 5">
            <a:extLst>
              <a:ext uri="{FF2B5EF4-FFF2-40B4-BE49-F238E27FC236}">
                <a16:creationId xmlns:a16="http://schemas.microsoft.com/office/drawing/2014/main" id="{11A72B43-5F97-4EDF-A6C1-6F12F05CD56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E7AF8A0-AA83-4952-B25F-BE201C031C02}"/>
              </a:ext>
            </a:extLst>
          </p:cNvPr>
          <p:cNvSpPr>
            <a:spLocks noGrp="1"/>
          </p:cNvSpPr>
          <p:nvPr>
            <p:ph type="sldNum" sz="quarter" idx="12"/>
          </p:nvPr>
        </p:nvSpPr>
        <p:spPr/>
        <p:txBody>
          <a:bodyPr/>
          <a:lstStyle/>
          <a:p>
            <a:fld id="{BBDD7173-52E2-4C17-BE38-1D8C30D9550E}" type="slidenum">
              <a:rPr lang="en-US" smtClean="0"/>
              <a:t>‹#›</a:t>
            </a:fld>
            <a:endParaRPr lang="en-US"/>
          </a:p>
        </p:txBody>
      </p:sp>
    </p:spTree>
    <p:extLst>
      <p:ext uri="{BB962C8B-B14F-4D97-AF65-F5344CB8AC3E}">
        <p14:creationId xmlns:p14="http://schemas.microsoft.com/office/powerpoint/2010/main" val="10970669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6E15EB-E049-4DFE-809F-AD1ABF4D2AA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1ED3CB0-D003-4028-B686-09BEF5A56F82}"/>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8709F6C-75AB-4562-98A0-E1CE8AB472AB}"/>
              </a:ext>
            </a:extLst>
          </p:cNvPr>
          <p:cNvSpPr>
            <a:spLocks noGrp="1"/>
          </p:cNvSpPr>
          <p:nvPr>
            <p:ph type="dt" sz="half" idx="10"/>
          </p:nvPr>
        </p:nvSpPr>
        <p:spPr/>
        <p:txBody>
          <a:bodyPr/>
          <a:lstStyle/>
          <a:p>
            <a:fld id="{9DAF7530-DEA6-41FA-AEA5-6DAA80B8D238}" type="datetimeFigureOut">
              <a:rPr lang="en-US" smtClean="0"/>
              <a:t>10/12/2017</a:t>
            </a:fld>
            <a:endParaRPr lang="en-US"/>
          </a:p>
        </p:txBody>
      </p:sp>
      <p:sp>
        <p:nvSpPr>
          <p:cNvPr id="5" name="Footer Placeholder 4">
            <a:extLst>
              <a:ext uri="{FF2B5EF4-FFF2-40B4-BE49-F238E27FC236}">
                <a16:creationId xmlns:a16="http://schemas.microsoft.com/office/drawing/2014/main" id="{DB0777B3-6446-4A47-9B23-C2FBB00A031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9E80D4A-5865-48DD-A439-FA8708573A11}"/>
              </a:ext>
            </a:extLst>
          </p:cNvPr>
          <p:cNvSpPr>
            <a:spLocks noGrp="1"/>
          </p:cNvSpPr>
          <p:nvPr>
            <p:ph type="sldNum" sz="quarter" idx="12"/>
          </p:nvPr>
        </p:nvSpPr>
        <p:spPr/>
        <p:txBody>
          <a:bodyPr/>
          <a:lstStyle/>
          <a:p>
            <a:fld id="{BBDD7173-52E2-4C17-BE38-1D8C30D9550E}" type="slidenum">
              <a:rPr lang="en-US" smtClean="0"/>
              <a:t>‹#›</a:t>
            </a:fld>
            <a:endParaRPr lang="en-US"/>
          </a:p>
        </p:txBody>
      </p:sp>
    </p:spTree>
    <p:extLst>
      <p:ext uri="{BB962C8B-B14F-4D97-AF65-F5344CB8AC3E}">
        <p14:creationId xmlns:p14="http://schemas.microsoft.com/office/powerpoint/2010/main" val="38986220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5534CFD-FEE1-4664-82C3-4FA8759BA0C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B5C80B7-B079-4E4B-8B9B-1EEC8B117365}"/>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965BC2-9437-4975-A6F3-7069FF95FEB1}"/>
              </a:ext>
            </a:extLst>
          </p:cNvPr>
          <p:cNvSpPr>
            <a:spLocks noGrp="1"/>
          </p:cNvSpPr>
          <p:nvPr>
            <p:ph type="dt" sz="half" idx="10"/>
          </p:nvPr>
        </p:nvSpPr>
        <p:spPr/>
        <p:txBody>
          <a:bodyPr/>
          <a:lstStyle/>
          <a:p>
            <a:fld id="{9DAF7530-DEA6-41FA-AEA5-6DAA80B8D238}" type="datetimeFigureOut">
              <a:rPr lang="en-US" smtClean="0"/>
              <a:t>10/12/2017</a:t>
            </a:fld>
            <a:endParaRPr lang="en-US"/>
          </a:p>
        </p:txBody>
      </p:sp>
      <p:sp>
        <p:nvSpPr>
          <p:cNvPr id="5" name="Footer Placeholder 4">
            <a:extLst>
              <a:ext uri="{FF2B5EF4-FFF2-40B4-BE49-F238E27FC236}">
                <a16:creationId xmlns:a16="http://schemas.microsoft.com/office/drawing/2014/main" id="{52E06B08-E0CC-4369-8D9B-597BA4CE7AD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4FC0738-6CFA-4550-ADDB-640D4952D1D9}"/>
              </a:ext>
            </a:extLst>
          </p:cNvPr>
          <p:cNvSpPr>
            <a:spLocks noGrp="1"/>
          </p:cNvSpPr>
          <p:nvPr>
            <p:ph type="sldNum" sz="quarter" idx="12"/>
          </p:nvPr>
        </p:nvSpPr>
        <p:spPr/>
        <p:txBody>
          <a:bodyPr/>
          <a:lstStyle/>
          <a:p>
            <a:fld id="{BBDD7173-52E2-4C17-BE38-1D8C30D9550E}" type="slidenum">
              <a:rPr lang="en-US" smtClean="0"/>
              <a:t>‹#›</a:t>
            </a:fld>
            <a:endParaRPr lang="en-US"/>
          </a:p>
        </p:txBody>
      </p:sp>
    </p:spTree>
    <p:extLst>
      <p:ext uri="{BB962C8B-B14F-4D97-AF65-F5344CB8AC3E}">
        <p14:creationId xmlns:p14="http://schemas.microsoft.com/office/powerpoint/2010/main" val="36063356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F75FD97-07B4-4CF7-B6EE-C7C9F1E935B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528DD92-70AC-47AC-86F8-D9849EAE948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3BF2067-406F-48AE-96CD-58A341322AC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DAF7530-DEA6-41FA-AEA5-6DAA80B8D238}" type="datetimeFigureOut">
              <a:rPr lang="en-US" smtClean="0"/>
              <a:t>10/12/2017</a:t>
            </a:fld>
            <a:endParaRPr lang="en-US"/>
          </a:p>
        </p:txBody>
      </p:sp>
      <p:sp>
        <p:nvSpPr>
          <p:cNvPr id="5" name="Footer Placeholder 4">
            <a:extLst>
              <a:ext uri="{FF2B5EF4-FFF2-40B4-BE49-F238E27FC236}">
                <a16:creationId xmlns:a16="http://schemas.microsoft.com/office/drawing/2014/main" id="{3084516B-B1B1-418B-8A4B-C63DB4E020C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3E623329-B54A-45DC-8806-BAD7D57C65E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BDD7173-52E2-4C17-BE38-1D8C30D9550E}" type="slidenum">
              <a:rPr lang="en-US" smtClean="0"/>
              <a:t>‹#›</a:t>
            </a:fld>
            <a:endParaRPr lang="en-US"/>
          </a:p>
        </p:txBody>
      </p:sp>
    </p:spTree>
    <p:extLst>
      <p:ext uri="{BB962C8B-B14F-4D97-AF65-F5344CB8AC3E}">
        <p14:creationId xmlns:p14="http://schemas.microsoft.com/office/powerpoint/2010/main" val="351589121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9.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9.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9.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9.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9.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9.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950775-B736-4AFA-BE5F-8CCA44FA6163}"/>
              </a:ext>
            </a:extLst>
          </p:cNvPr>
          <p:cNvSpPr>
            <a:spLocks noGrp="1"/>
          </p:cNvSpPr>
          <p:nvPr>
            <p:ph type="ctrTitle"/>
          </p:nvPr>
        </p:nvSpPr>
        <p:spPr/>
        <p:txBody>
          <a:bodyPr/>
          <a:lstStyle/>
          <a:p>
            <a:r>
              <a:rPr lang="en-US" dirty="0"/>
              <a:t>Weighted Yield Report</a:t>
            </a:r>
          </a:p>
        </p:txBody>
      </p:sp>
      <p:sp>
        <p:nvSpPr>
          <p:cNvPr id="3" name="Subtitle 2">
            <a:extLst>
              <a:ext uri="{FF2B5EF4-FFF2-40B4-BE49-F238E27FC236}">
                <a16:creationId xmlns:a16="http://schemas.microsoft.com/office/drawing/2014/main" id="{F79A2BAE-E355-4777-B257-6483A5F89D54}"/>
              </a:ext>
            </a:extLst>
          </p:cNvPr>
          <p:cNvSpPr>
            <a:spLocks noGrp="1"/>
          </p:cNvSpPr>
          <p:nvPr>
            <p:ph type="subTitle" idx="1"/>
          </p:nvPr>
        </p:nvSpPr>
        <p:spPr/>
        <p:txBody>
          <a:bodyPr/>
          <a:lstStyle/>
          <a:p>
            <a:r>
              <a:rPr lang="en-US" dirty="0"/>
              <a:t>Metric Outline and Plan</a:t>
            </a:r>
          </a:p>
        </p:txBody>
      </p:sp>
    </p:spTree>
    <p:extLst>
      <p:ext uri="{BB962C8B-B14F-4D97-AF65-F5344CB8AC3E}">
        <p14:creationId xmlns:p14="http://schemas.microsoft.com/office/powerpoint/2010/main" val="11924602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378BBD-6189-44F4-BA40-67E767E10202}"/>
              </a:ext>
            </a:extLst>
          </p:cNvPr>
          <p:cNvSpPr>
            <a:spLocks noGrp="1"/>
          </p:cNvSpPr>
          <p:nvPr>
            <p:ph type="title"/>
          </p:nvPr>
        </p:nvSpPr>
        <p:spPr/>
        <p:txBody>
          <a:bodyPr/>
          <a:lstStyle/>
          <a:p>
            <a:r>
              <a:rPr lang="en-US" dirty="0"/>
              <a:t>What is it?</a:t>
            </a:r>
          </a:p>
        </p:txBody>
      </p:sp>
      <p:sp>
        <p:nvSpPr>
          <p:cNvPr id="3" name="Content Placeholder 2">
            <a:extLst>
              <a:ext uri="{FF2B5EF4-FFF2-40B4-BE49-F238E27FC236}">
                <a16:creationId xmlns:a16="http://schemas.microsoft.com/office/drawing/2014/main" id="{D98FD024-A8F5-48A1-AD3E-13A636399DB5}"/>
              </a:ext>
            </a:extLst>
          </p:cNvPr>
          <p:cNvSpPr>
            <a:spLocks noGrp="1"/>
          </p:cNvSpPr>
          <p:nvPr>
            <p:ph type="body" sz="half" idx="2"/>
          </p:nvPr>
        </p:nvSpPr>
        <p:spPr>
          <a:xfrm>
            <a:off x="839788" y="2057400"/>
            <a:ext cx="4574693" cy="3811588"/>
          </a:xfrm>
        </p:spPr>
        <p:txBody>
          <a:bodyPr>
            <a:normAutofit/>
          </a:bodyPr>
          <a:lstStyle/>
          <a:p>
            <a:pPr marL="342900" indent="-342900">
              <a:buFont typeface="Arial" panose="020B0604020202020204" pitchFamily="34" charset="0"/>
              <a:buChar char="•"/>
            </a:pPr>
            <a:r>
              <a:rPr lang="en-US" sz="2000" dirty="0"/>
              <a:t>Metric that calculates </a:t>
            </a:r>
            <a:r>
              <a:rPr lang="en-US" sz="2000" b="1" dirty="0"/>
              <a:t>costs of a system or process </a:t>
            </a:r>
            <a:r>
              <a:rPr lang="en-US" sz="2000" dirty="0"/>
              <a:t>based on inputs and outputs to the system (yield)</a:t>
            </a:r>
          </a:p>
          <a:p>
            <a:pPr marL="342900" indent="-342900">
              <a:buFont typeface="Arial" panose="020B0604020202020204" pitchFamily="34" charset="0"/>
              <a:buChar char="•"/>
            </a:pPr>
            <a:r>
              <a:rPr lang="en-US" sz="2000" dirty="0"/>
              <a:t>Factors in value held by units that are input and not used (inventory)</a:t>
            </a:r>
          </a:p>
          <a:p>
            <a:pPr marL="342900" indent="-342900">
              <a:buFont typeface="Arial" panose="020B0604020202020204" pitchFamily="34" charset="0"/>
              <a:buChar char="•"/>
            </a:pPr>
            <a:r>
              <a:rPr lang="en-US" sz="2000" dirty="0"/>
              <a:t>Resulting metric is a </a:t>
            </a:r>
            <a:r>
              <a:rPr lang="en-US" sz="2000" b="1" dirty="0"/>
              <a:t>change in value over a period of time</a:t>
            </a:r>
            <a:endParaRPr lang="en-US" sz="1800" dirty="0"/>
          </a:p>
          <a:p>
            <a:pPr marL="0" indent="0">
              <a:buNone/>
            </a:pPr>
            <a:endParaRPr lang="en-US" sz="2000" dirty="0"/>
          </a:p>
        </p:txBody>
      </p:sp>
      <p:pic>
        <p:nvPicPr>
          <p:cNvPr id="4" name="Picture 3">
            <a:extLst>
              <a:ext uri="{FF2B5EF4-FFF2-40B4-BE49-F238E27FC236}">
                <a16:creationId xmlns:a16="http://schemas.microsoft.com/office/drawing/2014/main" id="{0BE2468F-BD99-4797-9442-CA19B2FFA290}"/>
              </a:ext>
            </a:extLst>
          </p:cNvPr>
          <p:cNvPicPr>
            <a:picLocks noChangeAspect="1"/>
          </p:cNvPicPr>
          <p:nvPr/>
        </p:nvPicPr>
        <p:blipFill>
          <a:blip r:embed="rId3"/>
          <a:stretch>
            <a:fillRect/>
          </a:stretch>
        </p:blipFill>
        <p:spPr>
          <a:xfrm>
            <a:off x="6839807" y="3228654"/>
            <a:ext cx="3848100" cy="2924175"/>
          </a:xfrm>
          <a:prstGeom prst="rect">
            <a:avLst/>
          </a:prstGeom>
        </p:spPr>
      </p:pic>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F13A398F-8CC3-49C3-A7A5-523F8C8CEEB9}"/>
                  </a:ext>
                </a:extLst>
              </p:cNvPr>
              <p:cNvSpPr txBox="1"/>
              <p:nvPr/>
            </p:nvSpPr>
            <p:spPr>
              <a:xfrm>
                <a:off x="6328882" y="1037690"/>
                <a:ext cx="4869950" cy="1508105"/>
              </a:xfrm>
              <a:prstGeom prst="rect">
                <a:avLst/>
              </a:prstGeom>
              <a:noFill/>
            </p:spPr>
            <p:txBody>
              <a:bodyPr wrap="square" rtlCol="0">
                <a:spAutoFit/>
              </a:bodyPr>
              <a:lstStyle/>
              <a:p>
                <a:r>
                  <a:rPr lang="en-US" sz="2000" dirty="0">
                    <a:latin typeface="+mj-lt"/>
                  </a:rPr>
                  <a:t>Basic (Naïve) Model</a:t>
                </a:r>
              </a:p>
              <a:p>
                <a:endParaRPr lang="en-US" dirty="0"/>
              </a:p>
              <a:p>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𝑉𝑎𝑙𝑢𝑒</m:t>
                      </m:r>
                      <m:r>
                        <a:rPr lang="en-US" b="0" i="1" smtClean="0">
                          <a:latin typeface="Cambria Math" panose="02040503050406030204" pitchFamily="18" charset="0"/>
                          <a:ea typeface="Cambria Math" panose="02040503050406030204" pitchFamily="18" charset="0"/>
                        </a:rPr>
                        <m:t>=</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𝑂𝑢𝑡𝑝𝑢𝑡</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𝐼𝑛𝑣𝑒𝑛𝑡𝑜𝑟𝑦</m:t>
                          </m:r>
                        </m:e>
                      </m:d>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𝐼𝑛𝑝𝑢𝑡𝑠</m:t>
                      </m:r>
                    </m:oMath>
                  </m:oMathPara>
                </a14:m>
                <a:endParaRPr lang="en-US" b="0" dirty="0">
                  <a:ea typeface="Cambria Math" panose="02040503050406030204" pitchFamily="18" charset="0"/>
                </a:endParaRPr>
              </a:p>
              <a:p>
                <a:endParaRPr lang="en-US" dirty="0"/>
              </a:p>
              <a:p>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𝑉</m:t>
                      </m:r>
                      <m:r>
                        <a:rPr lang="en-US" b="0" i="1" smtClean="0">
                          <a:latin typeface="Cambria Math" panose="02040503050406030204" pitchFamily="18" charset="0"/>
                          <a:ea typeface="Cambria Math" panose="02040503050406030204" pitchFamily="18" charset="0"/>
                        </a:rPr>
                        <m:t>=</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𝑂</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𝑁</m:t>
                          </m:r>
                        </m:e>
                      </m:d>
                      <m:r>
                        <a:rPr lang="en-US" b="0" i="1" smtClean="0">
                          <a:latin typeface="Cambria Math" panose="02040503050406030204" pitchFamily="18" charset="0"/>
                          <a:ea typeface="Cambria Math" panose="02040503050406030204" pitchFamily="18" charset="0"/>
                        </a:rPr>
                        <m:t> − ∆</m:t>
                      </m:r>
                      <m:r>
                        <a:rPr lang="en-US" b="0" i="1" smtClean="0">
                          <a:latin typeface="Cambria Math" panose="02040503050406030204" pitchFamily="18" charset="0"/>
                          <a:ea typeface="Cambria Math" panose="02040503050406030204" pitchFamily="18" charset="0"/>
                        </a:rPr>
                        <m:t>𝐼</m:t>
                      </m:r>
                    </m:oMath>
                  </m:oMathPara>
                </a14:m>
                <a:endParaRPr lang="en-US" dirty="0"/>
              </a:p>
            </p:txBody>
          </p:sp>
        </mc:Choice>
        <mc:Fallback>
          <p:sp>
            <p:nvSpPr>
              <p:cNvPr id="6" name="TextBox 5">
                <a:extLst>
                  <a:ext uri="{FF2B5EF4-FFF2-40B4-BE49-F238E27FC236}">
                    <a16:creationId xmlns:a16="http://schemas.microsoft.com/office/drawing/2014/main" id="{F13A398F-8CC3-49C3-A7A5-523F8C8CEEB9}"/>
                  </a:ext>
                </a:extLst>
              </p:cNvPr>
              <p:cNvSpPr txBox="1">
                <a:spLocks noRot="1" noChangeAspect="1" noMove="1" noResize="1" noEditPoints="1" noAdjustHandles="1" noChangeArrowheads="1" noChangeShapeType="1" noTextEdit="1"/>
              </p:cNvSpPr>
              <p:nvPr/>
            </p:nvSpPr>
            <p:spPr>
              <a:xfrm>
                <a:off x="6328882" y="1037690"/>
                <a:ext cx="4869950" cy="1508105"/>
              </a:xfrm>
              <a:prstGeom prst="rect">
                <a:avLst/>
              </a:prstGeom>
              <a:blipFill>
                <a:blip r:embed="rId4"/>
                <a:stretch>
                  <a:fillRect l="-1252" t="-2016" r="-250"/>
                </a:stretch>
              </a:blipFill>
            </p:spPr>
            <p:txBody>
              <a:bodyPr/>
              <a:lstStyle/>
              <a:p>
                <a:r>
                  <a:rPr lang="en-US">
                    <a:noFill/>
                  </a:rPr>
                  <a:t> </a:t>
                </a:r>
              </a:p>
            </p:txBody>
          </p:sp>
        </mc:Fallback>
      </mc:AlternateContent>
    </p:spTree>
    <p:extLst>
      <p:ext uri="{BB962C8B-B14F-4D97-AF65-F5344CB8AC3E}">
        <p14:creationId xmlns:p14="http://schemas.microsoft.com/office/powerpoint/2010/main" val="15056508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378BBD-6189-44F4-BA40-67E767E10202}"/>
              </a:ext>
            </a:extLst>
          </p:cNvPr>
          <p:cNvSpPr>
            <a:spLocks noGrp="1"/>
          </p:cNvSpPr>
          <p:nvPr>
            <p:ph type="title"/>
          </p:nvPr>
        </p:nvSpPr>
        <p:spPr/>
        <p:txBody>
          <a:bodyPr/>
          <a:lstStyle/>
          <a:p>
            <a:r>
              <a:rPr lang="en-US" dirty="0"/>
              <a:t>Normalizing the Model</a:t>
            </a:r>
          </a:p>
        </p:txBody>
      </p:sp>
      <p:sp>
        <p:nvSpPr>
          <p:cNvPr id="3" name="Content Placeholder 2">
            <a:extLst>
              <a:ext uri="{FF2B5EF4-FFF2-40B4-BE49-F238E27FC236}">
                <a16:creationId xmlns:a16="http://schemas.microsoft.com/office/drawing/2014/main" id="{D98FD024-A8F5-48A1-AD3E-13A636399DB5}"/>
              </a:ext>
            </a:extLst>
          </p:cNvPr>
          <p:cNvSpPr>
            <a:spLocks noGrp="1"/>
          </p:cNvSpPr>
          <p:nvPr>
            <p:ph type="body" sz="half" idx="2"/>
          </p:nvPr>
        </p:nvSpPr>
        <p:spPr>
          <a:xfrm>
            <a:off x="839788" y="2057400"/>
            <a:ext cx="4574693" cy="3811588"/>
          </a:xfrm>
        </p:spPr>
        <p:txBody>
          <a:bodyPr>
            <a:normAutofit/>
          </a:bodyPr>
          <a:lstStyle/>
          <a:p>
            <a:pPr marL="342900" indent="-342900">
              <a:buFont typeface="Arial" panose="020B0604020202020204" pitchFamily="34" charset="0"/>
              <a:buChar char="•"/>
            </a:pPr>
            <a:r>
              <a:rPr lang="en-US" sz="2000" dirty="0"/>
              <a:t>Either real values can be used, or the values can be normalized to a “unit value” of 1</a:t>
            </a:r>
          </a:p>
          <a:p>
            <a:pPr marL="342900" indent="-342900">
              <a:buFont typeface="Arial" panose="020B0604020202020204" pitchFamily="34" charset="0"/>
              <a:buChar char="•"/>
            </a:pPr>
            <a:r>
              <a:rPr lang="en-US" sz="2000" dirty="0"/>
              <a:t>Real values have problems in portraying accurate results</a:t>
            </a:r>
          </a:p>
          <a:p>
            <a:pPr marL="342900" indent="-342900">
              <a:buFont typeface="Arial" panose="020B0604020202020204" pitchFamily="34" charset="0"/>
              <a:buChar char="•"/>
            </a:pPr>
            <a:r>
              <a:rPr lang="en-US" sz="2000" dirty="0"/>
              <a:t>“Unit values” mean every unit is valued at 1</a:t>
            </a:r>
          </a:p>
        </p:txBody>
      </p:sp>
      <p:pic>
        <p:nvPicPr>
          <p:cNvPr id="4" name="Picture 3">
            <a:extLst>
              <a:ext uri="{FF2B5EF4-FFF2-40B4-BE49-F238E27FC236}">
                <a16:creationId xmlns:a16="http://schemas.microsoft.com/office/drawing/2014/main" id="{0BE2468F-BD99-4797-9442-CA19B2FFA290}"/>
              </a:ext>
            </a:extLst>
          </p:cNvPr>
          <p:cNvPicPr>
            <a:picLocks noChangeAspect="1"/>
          </p:cNvPicPr>
          <p:nvPr/>
        </p:nvPicPr>
        <p:blipFill>
          <a:blip r:embed="rId3"/>
          <a:stretch>
            <a:fillRect/>
          </a:stretch>
        </p:blipFill>
        <p:spPr>
          <a:xfrm>
            <a:off x="6839807" y="3228654"/>
            <a:ext cx="3848100" cy="2924175"/>
          </a:xfrm>
          <a:prstGeom prst="rect">
            <a:avLst/>
          </a:prstGeom>
        </p:spPr>
      </p:pic>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F13A398F-8CC3-49C3-A7A5-523F8C8CEEB9}"/>
                  </a:ext>
                </a:extLst>
              </p:cNvPr>
              <p:cNvSpPr txBox="1"/>
              <p:nvPr/>
            </p:nvSpPr>
            <p:spPr>
              <a:xfrm>
                <a:off x="6328882" y="1037690"/>
                <a:ext cx="4869950" cy="1508105"/>
              </a:xfrm>
              <a:prstGeom prst="rect">
                <a:avLst/>
              </a:prstGeom>
              <a:noFill/>
            </p:spPr>
            <p:txBody>
              <a:bodyPr wrap="square" rtlCol="0">
                <a:spAutoFit/>
              </a:bodyPr>
              <a:lstStyle/>
              <a:p>
                <a:r>
                  <a:rPr lang="en-US" sz="2000" dirty="0">
                    <a:latin typeface="+mj-lt"/>
                  </a:rPr>
                  <a:t>Basic (Naïve) Model</a:t>
                </a:r>
              </a:p>
              <a:p>
                <a:endParaRPr lang="en-US" dirty="0"/>
              </a:p>
              <a:p>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𝑉𝑎𝑙𝑢𝑒</m:t>
                      </m:r>
                      <m:r>
                        <a:rPr lang="en-US" b="0" i="1" smtClean="0">
                          <a:latin typeface="Cambria Math" panose="02040503050406030204" pitchFamily="18" charset="0"/>
                          <a:ea typeface="Cambria Math" panose="02040503050406030204" pitchFamily="18" charset="0"/>
                        </a:rPr>
                        <m:t>=</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𝑂𝑢𝑡𝑝𝑢𝑡</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𝐼𝑛𝑣𝑒𝑛𝑡𝑜𝑟𝑦</m:t>
                          </m:r>
                        </m:e>
                      </m:d>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𝐼𝑛𝑝𝑢𝑡𝑠</m:t>
                      </m:r>
                    </m:oMath>
                  </m:oMathPara>
                </a14:m>
                <a:endParaRPr lang="en-US" b="0" dirty="0">
                  <a:ea typeface="Cambria Math" panose="02040503050406030204" pitchFamily="18" charset="0"/>
                </a:endParaRPr>
              </a:p>
              <a:p>
                <a:endParaRPr lang="en-US" dirty="0"/>
              </a:p>
              <a:p>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𝑉</m:t>
                      </m:r>
                      <m:r>
                        <a:rPr lang="en-US" b="0" i="1" smtClean="0">
                          <a:latin typeface="Cambria Math" panose="02040503050406030204" pitchFamily="18" charset="0"/>
                          <a:ea typeface="Cambria Math" panose="02040503050406030204" pitchFamily="18" charset="0"/>
                        </a:rPr>
                        <m:t>=</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𝑂</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𝑁</m:t>
                          </m:r>
                        </m:e>
                      </m:d>
                      <m:r>
                        <a:rPr lang="en-US" b="0" i="1" smtClean="0">
                          <a:latin typeface="Cambria Math" panose="02040503050406030204" pitchFamily="18" charset="0"/>
                          <a:ea typeface="Cambria Math" panose="02040503050406030204" pitchFamily="18" charset="0"/>
                        </a:rPr>
                        <m:t> − ∆</m:t>
                      </m:r>
                      <m:r>
                        <a:rPr lang="en-US" b="0" i="1" smtClean="0">
                          <a:latin typeface="Cambria Math" panose="02040503050406030204" pitchFamily="18" charset="0"/>
                          <a:ea typeface="Cambria Math" panose="02040503050406030204" pitchFamily="18" charset="0"/>
                        </a:rPr>
                        <m:t>𝐼</m:t>
                      </m:r>
                    </m:oMath>
                  </m:oMathPara>
                </a14:m>
                <a:endParaRPr lang="en-US" dirty="0"/>
              </a:p>
            </p:txBody>
          </p:sp>
        </mc:Choice>
        <mc:Fallback>
          <p:sp>
            <p:nvSpPr>
              <p:cNvPr id="6" name="TextBox 5">
                <a:extLst>
                  <a:ext uri="{FF2B5EF4-FFF2-40B4-BE49-F238E27FC236}">
                    <a16:creationId xmlns:a16="http://schemas.microsoft.com/office/drawing/2014/main" id="{F13A398F-8CC3-49C3-A7A5-523F8C8CEEB9}"/>
                  </a:ext>
                </a:extLst>
              </p:cNvPr>
              <p:cNvSpPr txBox="1">
                <a:spLocks noRot="1" noChangeAspect="1" noMove="1" noResize="1" noEditPoints="1" noAdjustHandles="1" noChangeArrowheads="1" noChangeShapeType="1" noTextEdit="1"/>
              </p:cNvSpPr>
              <p:nvPr/>
            </p:nvSpPr>
            <p:spPr>
              <a:xfrm>
                <a:off x="6328882" y="1037690"/>
                <a:ext cx="4869950" cy="1508105"/>
              </a:xfrm>
              <a:prstGeom prst="rect">
                <a:avLst/>
              </a:prstGeom>
              <a:blipFill>
                <a:blip r:embed="rId4"/>
                <a:stretch>
                  <a:fillRect l="-1252" t="-2016" r="-250"/>
                </a:stretch>
              </a:blipFill>
            </p:spPr>
            <p:txBody>
              <a:bodyPr/>
              <a:lstStyle/>
              <a:p>
                <a:r>
                  <a:rPr lang="en-US">
                    <a:noFill/>
                  </a:rPr>
                  <a:t> </a:t>
                </a:r>
              </a:p>
            </p:txBody>
          </p:sp>
        </mc:Fallback>
      </mc:AlternateContent>
    </p:spTree>
    <p:extLst>
      <p:ext uri="{BB962C8B-B14F-4D97-AF65-F5344CB8AC3E}">
        <p14:creationId xmlns:p14="http://schemas.microsoft.com/office/powerpoint/2010/main" val="8899982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378BBD-6189-44F4-BA40-67E767E10202}"/>
              </a:ext>
            </a:extLst>
          </p:cNvPr>
          <p:cNvSpPr>
            <a:spLocks noGrp="1"/>
          </p:cNvSpPr>
          <p:nvPr>
            <p:ph type="title"/>
          </p:nvPr>
        </p:nvSpPr>
        <p:spPr>
          <a:xfrm>
            <a:off x="801688" y="127000"/>
            <a:ext cx="3932237" cy="1600200"/>
          </a:xfrm>
        </p:spPr>
        <p:txBody>
          <a:bodyPr/>
          <a:lstStyle/>
          <a:p>
            <a:r>
              <a:rPr lang="en-US" dirty="0"/>
              <a:t>Normalizing the Model (Example)</a:t>
            </a:r>
          </a:p>
        </p:txBody>
      </p:sp>
      <p:sp>
        <p:nvSpPr>
          <p:cNvPr id="3" name="Content Placeholder 2">
            <a:extLst>
              <a:ext uri="{FF2B5EF4-FFF2-40B4-BE49-F238E27FC236}">
                <a16:creationId xmlns:a16="http://schemas.microsoft.com/office/drawing/2014/main" id="{D98FD024-A8F5-48A1-AD3E-13A636399DB5}"/>
              </a:ext>
            </a:extLst>
          </p:cNvPr>
          <p:cNvSpPr>
            <a:spLocks noGrp="1"/>
          </p:cNvSpPr>
          <p:nvPr>
            <p:ph type="body" sz="half" idx="2"/>
          </p:nvPr>
        </p:nvSpPr>
        <p:spPr>
          <a:xfrm>
            <a:off x="801688" y="1727200"/>
            <a:ext cx="4574693" cy="3811588"/>
          </a:xfrm>
        </p:spPr>
        <p:txBody>
          <a:bodyPr>
            <a:noAutofit/>
          </a:bodyPr>
          <a:lstStyle/>
          <a:p>
            <a:pPr marL="342900" indent="-342900">
              <a:buFont typeface="Arial" panose="020B0604020202020204" pitchFamily="34" charset="0"/>
              <a:buChar char="•"/>
            </a:pPr>
            <a:r>
              <a:rPr lang="en-US" sz="2000" dirty="0"/>
              <a:t>Example: over a week, 5 units are added to the system, 2 fail and return to inventory, 3 are output</a:t>
            </a:r>
          </a:p>
          <a:p>
            <a:pPr marL="342900" indent="-342900">
              <a:buFont typeface="Arial" panose="020B0604020202020204" pitchFamily="34" charset="0"/>
              <a:buChar char="•"/>
            </a:pPr>
            <a:r>
              <a:rPr lang="en-US" sz="2000" dirty="0"/>
              <a:t>Assume units in inventory are less valuable</a:t>
            </a:r>
          </a:p>
          <a:p>
            <a:pPr marL="342900" indent="-342900">
              <a:buFont typeface="Arial" panose="020B0604020202020204" pitchFamily="34" charset="0"/>
              <a:buChar char="•"/>
            </a:pPr>
            <a:r>
              <a:rPr lang="en-US" sz="2000" dirty="0"/>
              <a:t>Model provides a calculation for how much value is lost from units input to the system</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l-GR" sz="2000" dirty="0"/>
              <a:t>Δ</a:t>
            </a:r>
            <a:r>
              <a:rPr lang="en-US" sz="2000" dirty="0"/>
              <a:t>V is always negative</a:t>
            </a:r>
          </a:p>
          <a:p>
            <a:pPr marL="800100" lvl="1" indent="-342900">
              <a:buFont typeface="Arial" panose="020B0604020202020204" pitchFamily="34" charset="0"/>
              <a:buChar char="•"/>
            </a:pPr>
            <a:r>
              <a:rPr lang="el-GR" sz="2000" dirty="0"/>
              <a:t>Δ</a:t>
            </a:r>
            <a:r>
              <a:rPr lang="en-US" sz="2000" dirty="0"/>
              <a:t>V = 0 describes a perfect system</a:t>
            </a:r>
          </a:p>
          <a:p>
            <a:pPr marL="800100" lvl="1" indent="-342900">
              <a:buFont typeface="Arial" panose="020B0604020202020204" pitchFamily="34" charset="0"/>
              <a:buChar char="•"/>
            </a:pPr>
            <a:r>
              <a:rPr lang="en-US" sz="2000" dirty="0"/>
              <a:t>The close </a:t>
            </a:r>
            <a:r>
              <a:rPr lang="el-GR" sz="2000" dirty="0"/>
              <a:t>Δ</a:t>
            </a:r>
            <a:r>
              <a:rPr lang="en-US" sz="2000" dirty="0"/>
              <a:t>V is to 0, the healthier the system</a:t>
            </a:r>
          </a:p>
        </p:txBody>
      </p:sp>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F13A398F-8CC3-49C3-A7A5-523F8C8CEEB9}"/>
                  </a:ext>
                </a:extLst>
              </p:cNvPr>
              <p:cNvSpPr txBox="1"/>
              <p:nvPr/>
            </p:nvSpPr>
            <p:spPr>
              <a:xfrm>
                <a:off x="6328882" y="1037690"/>
                <a:ext cx="4869950" cy="2062103"/>
              </a:xfrm>
              <a:prstGeom prst="rect">
                <a:avLst/>
              </a:prstGeom>
              <a:noFill/>
            </p:spPr>
            <p:txBody>
              <a:bodyPr wrap="square" rtlCol="0">
                <a:spAutoFit/>
              </a:bodyPr>
              <a:lstStyle/>
              <a:p>
                <a:r>
                  <a:rPr lang="en-US" sz="2000" dirty="0">
                    <a:latin typeface="+mj-lt"/>
                  </a:rPr>
                  <a:t>Basic (Naïve) Model</a:t>
                </a:r>
              </a:p>
              <a:p>
                <a:endParaRPr lang="en-US" dirty="0"/>
              </a:p>
              <a:p>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𝑉</m:t>
                      </m:r>
                      <m:r>
                        <a:rPr lang="en-US" b="0" i="1" smtClean="0">
                          <a:latin typeface="Cambria Math" panose="02040503050406030204" pitchFamily="18" charset="0"/>
                          <a:ea typeface="Cambria Math" panose="02040503050406030204" pitchFamily="18" charset="0"/>
                        </a:rPr>
                        <m:t>=</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𝑂</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𝑁</m:t>
                          </m:r>
                        </m:e>
                      </m:d>
                      <m:r>
                        <a:rPr lang="en-US" b="0" i="1" smtClean="0">
                          <a:latin typeface="Cambria Math" panose="02040503050406030204" pitchFamily="18" charset="0"/>
                          <a:ea typeface="Cambria Math" panose="02040503050406030204" pitchFamily="18" charset="0"/>
                        </a:rPr>
                        <m:t> − ∆</m:t>
                      </m:r>
                      <m:r>
                        <a:rPr lang="en-US" b="0" i="1" smtClean="0">
                          <a:latin typeface="Cambria Math" panose="02040503050406030204" pitchFamily="18" charset="0"/>
                          <a:ea typeface="Cambria Math" panose="02040503050406030204" pitchFamily="18" charset="0"/>
                        </a:rPr>
                        <m:t>𝐼</m:t>
                      </m:r>
                    </m:oMath>
                  </m:oMathPara>
                </a14:m>
                <a:endParaRPr lang="en-US" dirty="0"/>
              </a:p>
              <a:p>
                <a:endParaRPr lang="en-US" dirty="0"/>
              </a:p>
              <a:p>
                <a:pPr algn="ct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𝑉</m:t>
                      </m:r>
                      <m:r>
                        <a:rPr lang="en-US" b="0" i="1" smtClean="0">
                          <a:latin typeface="Cambria Math" panose="02040503050406030204" pitchFamily="18" charset="0"/>
                          <a:ea typeface="Cambria Math" panose="02040503050406030204" pitchFamily="18" charset="0"/>
                        </a:rPr>
                        <m:t>=</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3</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2∗(0.5)</m:t>
                          </m:r>
                        </m:e>
                      </m:d>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5</m:t>
                      </m:r>
                    </m:oMath>
                  </m:oMathPara>
                </a14:m>
                <a:endParaRPr lang="en-US" b="0" dirty="0">
                  <a:ea typeface="Cambria Math" panose="02040503050406030204" pitchFamily="18" charset="0"/>
                </a:endParaRPr>
              </a:p>
              <a:p>
                <a:pPr algn="ctr"/>
                <a14:m>
                  <m:oMath xmlns:m="http://schemas.openxmlformats.org/officeDocument/2006/math">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𝑉</m:t>
                    </m:r>
                  </m:oMath>
                </a14:m>
                <a:r>
                  <a:rPr lang="en-US" dirty="0"/>
                  <a:t> = -1 Unit</a:t>
                </a:r>
              </a:p>
              <a:p>
                <a:pPr algn="ctr"/>
                <a:endParaRPr lang="en-US" dirty="0"/>
              </a:p>
            </p:txBody>
          </p:sp>
        </mc:Choice>
        <mc:Fallback>
          <p:sp>
            <p:nvSpPr>
              <p:cNvPr id="6" name="TextBox 5">
                <a:extLst>
                  <a:ext uri="{FF2B5EF4-FFF2-40B4-BE49-F238E27FC236}">
                    <a16:creationId xmlns:a16="http://schemas.microsoft.com/office/drawing/2014/main" id="{F13A398F-8CC3-49C3-A7A5-523F8C8CEEB9}"/>
                  </a:ext>
                </a:extLst>
              </p:cNvPr>
              <p:cNvSpPr txBox="1">
                <a:spLocks noRot="1" noChangeAspect="1" noMove="1" noResize="1" noEditPoints="1" noAdjustHandles="1" noChangeArrowheads="1" noChangeShapeType="1" noTextEdit="1"/>
              </p:cNvSpPr>
              <p:nvPr/>
            </p:nvSpPr>
            <p:spPr>
              <a:xfrm>
                <a:off x="6328882" y="1037690"/>
                <a:ext cx="4869950" cy="2062103"/>
              </a:xfrm>
              <a:prstGeom prst="rect">
                <a:avLst/>
              </a:prstGeom>
              <a:blipFill>
                <a:blip r:embed="rId3"/>
                <a:stretch>
                  <a:fillRect l="-1252" t="-1479"/>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6EE0A32B-9542-40B7-B1CC-C7C2DE350944}"/>
              </a:ext>
            </a:extLst>
          </p:cNvPr>
          <p:cNvPicPr>
            <a:picLocks noChangeAspect="1"/>
          </p:cNvPicPr>
          <p:nvPr/>
        </p:nvPicPr>
        <p:blipFill>
          <a:blip r:embed="rId4"/>
          <a:stretch>
            <a:fillRect/>
          </a:stretch>
        </p:blipFill>
        <p:spPr>
          <a:xfrm>
            <a:off x="6730269" y="3162300"/>
            <a:ext cx="4067175" cy="3124200"/>
          </a:xfrm>
          <a:prstGeom prst="rect">
            <a:avLst/>
          </a:prstGeom>
        </p:spPr>
      </p:pic>
    </p:spTree>
    <p:extLst>
      <p:ext uri="{BB962C8B-B14F-4D97-AF65-F5344CB8AC3E}">
        <p14:creationId xmlns:p14="http://schemas.microsoft.com/office/powerpoint/2010/main" val="8871412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378BBD-6189-44F4-BA40-67E767E10202}"/>
              </a:ext>
            </a:extLst>
          </p:cNvPr>
          <p:cNvSpPr>
            <a:spLocks noGrp="1"/>
          </p:cNvSpPr>
          <p:nvPr>
            <p:ph type="title"/>
          </p:nvPr>
        </p:nvSpPr>
        <p:spPr>
          <a:xfrm>
            <a:off x="801688" y="127000"/>
            <a:ext cx="3932237" cy="1600200"/>
          </a:xfrm>
        </p:spPr>
        <p:txBody>
          <a:bodyPr/>
          <a:lstStyle/>
          <a:p>
            <a:r>
              <a:rPr lang="en-US" dirty="0"/>
              <a:t>A Less Naïve Model</a:t>
            </a:r>
          </a:p>
        </p:txBody>
      </p:sp>
      <p:sp>
        <p:nvSpPr>
          <p:cNvPr id="3" name="Content Placeholder 2">
            <a:extLst>
              <a:ext uri="{FF2B5EF4-FFF2-40B4-BE49-F238E27FC236}">
                <a16:creationId xmlns:a16="http://schemas.microsoft.com/office/drawing/2014/main" id="{D98FD024-A8F5-48A1-AD3E-13A636399DB5}"/>
              </a:ext>
            </a:extLst>
          </p:cNvPr>
          <p:cNvSpPr>
            <a:spLocks noGrp="1"/>
          </p:cNvSpPr>
          <p:nvPr>
            <p:ph type="body" sz="half" idx="2"/>
          </p:nvPr>
        </p:nvSpPr>
        <p:spPr>
          <a:xfrm>
            <a:off x="801688" y="1727200"/>
            <a:ext cx="4574693" cy="3811588"/>
          </a:xfrm>
        </p:spPr>
        <p:txBody>
          <a:bodyPr>
            <a:noAutofit/>
          </a:bodyPr>
          <a:lstStyle/>
          <a:p>
            <a:pPr marL="342900" indent="-342900">
              <a:buFont typeface="Arial" panose="020B0604020202020204" pitchFamily="34" charset="0"/>
              <a:buChar char="•"/>
            </a:pPr>
            <a:r>
              <a:rPr lang="en-US" sz="2000" dirty="0"/>
              <a:t>A more complete model considers that inputs can have multiple outputs</a:t>
            </a:r>
          </a:p>
          <a:p>
            <a:pPr marL="342900" indent="-342900">
              <a:buFont typeface="Arial" panose="020B0604020202020204" pitchFamily="34" charset="0"/>
              <a:buChar char="•"/>
            </a:pPr>
            <a:r>
              <a:rPr lang="en-US" sz="2000" dirty="0"/>
              <a:t>All units are added to an inventory, before being used for output</a:t>
            </a:r>
          </a:p>
          <a:p>
            <a:pPr marL="342900" indent="-342900">
              <a:buFont typeface="Arial" panose="020B0604020202020204" pitchFamily="34" charset="0"/>
              <a:buChar char="•"/>
            </a:pPr>
            <a:r>
              <a:rPr lang="en-US" sz="2000" b="1" dirty="0"/>
              <a:t>How many units can leave inventory is related to how many orders of output are received</a:t>
            </a:r>
          </a:p>
        </p:txBody>
      </p:sp>
      <p:pic>
        <p:nvPicPr>
          <p:cNvPr id="7" name="Picture 6">
            <a:extLst>
              <a:ext uri="{FF2B5EF4-FFF2-40B4-BE49-F238E27FC236}">
                <a16:creationId xmlns:a16="http://schemas.microsoft.com/office/drawing/2014/main" id="{E28C46C5-5986-4939-B564-46989BD8DEE3}"/>
              </a:ext>
            </a:extLst>
          </p:cNvPr>
          <p:cNvPicPr>
            <a:picLocks noChangeAspect="1"/>
          </p:cNvPicPr>
          <p:nvPr/>
        </p:nvPicPr>
        <p:blipFill>
          <a:blip r:embed="rId3"/>
          <a:stretch>
            <a:fillRect/>
          </a:stretch>
        </p:blipFill>
        <p:spPr>
          <a:xfrm>
            <a:off x="5996843" y="1978025"/>
            <a:ext cx="5534025" cy="3943350"/>
          </a:xfrm>
          <a:prstGeom prst="rect">
            <a:avLst/>
          </a:prstGeom>
        </p:spPr>
      </p:pic>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id="{A4B8CB58-42DA-431B-BCB1-EB66DB0B9690}"/>
                  </a:ext>
                </a:extLst>
              </p:cNvPr>
              <p:cNvSpPr txBox="1"/>
              <p:nvPr/>
            </p:nvSpPr>
            <p:spPr>
              <a:xfrm>
                <a:off x="6328880" y="1190090"/>
                <a:ext cx="4869950" cy="677108"/>
              </a:xfrm>
              <a:prstGeom prst="rect">
                <a:avLst/>
              </a:prstGeom>
              <a:noFill/>
            </p:spPr>
            <p:txBody>
              <a:bodyPr wrap="square" rtlCol="0">
                <a:spAutoFit/>
              </a:bodyPr>
              <a:lstStyle/>
              <a:p>
                <a:r>
                  <a:rPr lang="en-US" sz="2000" dirty="0">
                    <a:latin typeface="+mj-lt"/>
                  </a:rPr>
                  <a:t>Overall Equation Still True</a:t>
                </a:r>
              </a:p>
              <a:p>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𝑉</m:t>
                      </m:r>
                      <m:r>
                        <a:rPr lang="en-US" b="0" i="1" smtClean="0">
                          <a:latin typeface="Cambria Math" panose="02040503050406030204" pitchFamily="18" charset="0"/>
                          <a:ea typeface="Cambria Math" panose="02040503050406030204" pitchFamily="18" charset="0"/>
                        </a:rPr>
                        <m:t>=</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𝑂</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𝑁</m:t>
                          </m:r>
                        </m:e>
                      </m:d>
                      <m:r>
                        <a:rPr lang="en-US" b="0" i="1" smtClean="0">
                          <a:latin typeface="Cambria Math" panose="02040503050406030204" pitchFamily="18" charset="0"/>
                          <a:ea typeface="Cambria Math" panose="02040503050406030204" pitchFamily="18" charset="0"/>
                        </a:rPr>
                        <m:t> − ∆</m:t>
                      </m:r>
                      <m:r>
                        <a:rPr lang="en-US" b="0" i="1" smtClean="0">
                          <a:latin typeface="Cambria Math" panose="02040503050406030204" pitchFamily="18" charset="0"/>
                          <a:ea typeface="Cambria Math" panose="02040503050406030204" pitchFamily="18" charset="0"/>
                        </a:rPr>
                        <m:t>𝐼</m:t>
                      </m:r>
                    </m:oMath>
                  </m:oMathPara>
                </a14:m>
                <a:endParaRPr lang="en-US" dirty="0"/>
              </a:p>
            </p:txBody>
          </p:sp>
        </mc:Choice>
        <mc:Fallback>
          <p:sp>
            <p:nvSpPr>
              <p:cNvPr id="8" name="TextBox 7">
                <a:extLst>
                  <a:ext uri="{FF2B5EF4-FFF2-40B4-BE49-F238E27FC236}">
                    <a16:creationId xmlns:a16="http://schemas.microsoft.com/office/drawing/2014/main" id="{A4B8CB58-42DA-431B-BCB1-EB66DB0B9690}"/>
                  </a:ext>
                </a:extLst>
              </p:cNvPr>
              <p:cNvSpPr txBox="1">
                <a:spLocks noRot="1" noChangeAspect="1" noMove="1" noResize="1" noEditPoints="1" noAdjustHandles="1" noChangeArrowheads="1" noChangeShapeType="1" noTextEdit="1"/>
              </p:cNvSpPr>
              <p:nvPr/>
            </p:nvSpPr>
            <p:spPr>
              <a:xfrm>
                <a:off x="6328880" y="1190090"/>
                <a:ext cx="4869950" cy="677108"/>
              </a:xfrm>
              <a:prstGeom prst="rect">
                <a:avLst/>
              </a:prstGeom>
              <a:blipFill>
                <a:blip r:embed="rId4"/>
                <a:stretch>
                  <a:fillRect l="-1252" t="-4505"/>
                </a:stretch>
              </a:blipFill>
            </p:spPr>
            <p:txBody>
              <a:bodyPr/>
              <a:lstStyle/>
              <a:p>
                <a:r>
                  <a:rPr lang="en-US">
                    <a:noFill/>
                  </a:rPr>
                  <a:t> </a:t>
                </a:r>
              </a:p>
            </p:txBody>
          </p:sp>
        </mc:Fallback>
      </mc:AlternateContent>
    </p:spTree>
    <p:extLst>
      <p:ext uri="{BB962C8B-B14F-4D97-AF65-F5344CB8AC3E}">
        <p14:creationId xmlns:p14="http://schemas.microsoft.com/office/powerpoint/2010/main" val="22827907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378BBD-6189-44F4-BA40-67E767E10202}"/>
              </a:ext>
            </a:extLst>
          </p:cNvPr>
          <p:cNvSpPr>
            <a:spLocks noGrp="1"/>
          </p:cNvSpPr>
          <p:nvPr>
            <p:ph type="title"/>
          </p:nvPr>
        </p:nvSpPr>
        <p:spPr>
          <a:xfrm>
            <a:off x="801688" y="127000"/>
            <a:ext cx="3932237" cy="1600200"/>
          </a:xfrm>
        </p:spPr>
        <p:txBody>
          <a:bodyPr/>
          <a:lstStyle/>
          <a:p>
            <a:r>
              <a:rPr lang="en-US" dirty="0"/>
              <a:t>An Even Less Naïve Model</a:t>
            </a:r>
          </a:p>
        </p:txBody>
      </p:sp>
      <p:sp>
        <p:nvSpPr>
          <p:cNvPr id="3" name="Content Placeholder 2">
            <a:extLst>
              <a:ext uri="{FF2B5EF4-FFF2-40B4-BE49-F238E27FC236}">
                <a16:creationId xmlns:a16="http://schemas.microsoft.com/office/drawing/2014/main" id="{D98FD024-A8F5-48A1-AD3E-13A636399DB5}"/>
              </a:ext>
            </a:extLst>
          </p:cNvPr>
          <p:cNvSpPr>
            <a:spLocks noGrp="1"/>
          </p:cNvSpPr>
          <p:nvPr>
            <p:ph type="body" sz="half" idx="2"/>
          </p:nvPr>
        </p:nvSpPr>
        <p:spPr>
          <a:xfrm>
            <a:off x="801688" y="1727200"/>
            <a:ext cx="4574693" cy="3811588"/>
          </a:xfrm>
        </p:spPr>
        <p:txBody>
          <a:bodyPr>
            <a:noAutofit/>
          </a:bodyPr>
          <a:lstStyle/>
          <a:p>
            <a:pPr marL="342900" indent="-342900">
              <a:buFont typeface="Arial" panose="020B0604020202020204" pitchFamily="34" charset="0"/>
              <a:buChar char="•"/>
            </a:pPr>
            <a:r>
              <a:rPr lang="en-US" sz="2000" dirty="0"/>
              <a:t>We also consider that not all units that try to leave inventory are successful</a:t>
            </a:r>
          </a:p>
          <a:p>
            <a:pPr marL="342900" indent="-342900">
              <a:buFont typeface="Arial" panose="020B0604020202020204" pitchFamily="34" charset="0"/>
              <a:buChar char="•"/>
            </a:pPr>
            <a:r>
              <a:rPr lang="en-US" sz="2000" dirty="0"/>
              <a:t>Adding this in begins to give us a better sense of how value of the inventory decreases over time</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l-GR" sz="2000" dirty="0"/>
              <a:t>Δ</a:t>
            </a:r>
            <a:r>
              <a:rPr lang="en-US" sz="2000" dirty="0"/>
              <a:t>O and </a:t>
            </a:r>
            <a:r>
              <a:rPr lang="el-GR" sz="2000" dirty="0"/>
              <a:t>Δ</a:t>
            </a:r>
            <a:r>
              <a:rPr lang="en-US" sz="2000" dirty="0"/>
              <a:t>I are still the same</a:t>
            </a:r>
          </a:p>
          <a:p>
            <a:pPr marL="342900" indent="-342900">
              <a:buFont typeface="Arial" panose="020B0604020202020204" pitchFamily="34" charset="0"/>
              <a:buChar char="•"/>
            </a:pPr>
            <a:r>
              <a:rPr lang="en-US" sz="2000" dirty="0"/>
              <a:t>So how to find </a:t>
            </a:r>
            <a:r>
              <a:rPr lang="el-GR" sz="2000" dirty="0"/>
              <a:t>Δ</a:t>
            </a:r>
            <a:r>
              <a:rPr lang="en-US" sz="2000" dirty="0"/>
              <a:t>N…?</a:t>
            </a:r>
          </a:p>
        </p:txBody>
      </p:sp>
      <p:pic>
        <p:nvPicPr>
          <p:cNvPr id="4" name="Picture 3">
            <a:extLst>
              <a:ext uri="{FF2B5EF4-FFF2-40B4-BE49-F238E27FC236}">
                <a16:creationId xmlns:a16="http://schemas.microsoft.com/office/drawing/2014/main" id="{62AA3279-CD42-49A8-A34A-6CC785B5E762}"/>
              </a:ext>
            </a:extLst>
          </p:cNvPr>
          <p:cNvPicPr>
            <a:picLocks noChangeAspect="1"/>
          </p:cNvPicPr>
          <p:nvPr/>
        </p:nvPicPr>
        <p:blipFill>
          <a:blip r:embed="rId3"/>
          <a:stretch>
            <a:fillRect/>
          </a:stretch>
        </p:blipFill>
        <p:spPr>
          <a:xfrm>
            <a:off x="5554181" y="2319337"/>
            <a:ext cx="6429375" cy="3895725"/>
          </a:xfrm>
          <a:prstGeom prst="rect">
            <a:avLst/>
          </a:prstGeom>
        </p:spPr>
      </p:pic>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98902E99-AF3A-4122-B6FD-D21758351F8D}"/>
                  </a:ext>
                </a:extLst>
              </p:cNvPr>
              <p:cNvSpPr txBox="1"/>
              <p:nvPr/>
            </p:nvSpPr>
            <p:spPr>
              <a:xfrm>
                <a:off x="6333893" y="1404034"/>
                <a:ext cx="4869950" cy="646331"/>
              </a:xfrm>
              <a:prstGeom prst="rect">
                <a:avLst/>
              </a:prstGeom>
              <a:noFill/>
            </p:spPr>
            <p:txBody>
              <a:bodyPr wrap="square" rtlCol="0">
                <a:spAutoFit/>
              </a:bodyPr>
              <a:lstStyle/>
              <a:p>
                <a:r>
                  <a:rPr lang="en-US" dirty="0"/>
                  <a:t>Overall Equation Still True</a:t>
                </a:r>
              </a:p>
              <a:p>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𝑉</m:t>
                      </m:r>
                      <m:r>
                        <a:rPr lang="en-US" b="0" i="1" smtClean="0">
                          <a:latin typeface="Cambria Math" panose="02040503050406030204" pitchFamily="18" charset="0"/>
                          <a:ea typeface="Cambria Math" panose="02040503050406030204" pitchFamily="18" charset="0"/>
                        </a:rPr>
                        <m:t>=</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𝑂</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𝑁</m:t>
                          </m:r>
                        </m:e>
                      </m:d>
                      <m:r>
                        <a:rPr lang="en-US" b="0" i="1" smtClean="0">
                          <a:latin typeface="Cambria Math" panose="02040503050406030204" pitchFamily="18" charset="0"/>
                          <a:ea typeface="Cambria Math" panose="02040503050406030204" pitchFamily="18" charset="0"/>
                        </a:rPr>
                        <m:t> − ∆</m:t>
                      </m:r>
                      <m:r>
                        <a:rPr lang="en-US" b="0" i="1" smtClean="0">
                          <a:latin typeface="Cambria Math" panose="02040503050406030204" pitchFamily="18" charset="0"/>
                          <a:ea typeface="Cambria Math" panose="02040503050406030204" pitchFamily="18" charset="0"/>
                        </a:rPr>
                        <m:t>𝐼</m:t>
                      </m:r>
                    </m:oMath>
                  </m:oMathPara>
                </a14:m>
                <a:endParaRPr lang="en-US" dirty="0"/>
              </a:p>
            </p:txBody>
          </p:sp>
        </mc:Choice>
        <mc:Fallback>
          <p:sp>
            <p:nvSpPr>
              <p:cNvPr id="6" name="TextBox 5">
                <a:extLst>
                  <a:ext uri="{FF2B5EF4-FFF2-40B4-BE49-F238E27FC236}">
                    <a16:creationId xmlns:a16="http://schemas.microsoft.com/office/drawing/2014/main" id="{98902E99-AF3A-4122-B6FD-D21758351F8D}"/>
                  </a:ext>
                </a:extLst>
              </p:cNvPr>
              <p:cNvSpPr txBox="1">
                <a:spLocks noRot="1" noChangeAspect="1" noMove="1" noResize="1" noEditPoints="1" noAdjustHandles="1" noChangeArrowheads="1" noChangeShapeType="1" noTextEdit="1"/>
              </p:cNvSpPr>
              <p:nvPr/>
            </p:nvSpPr>
            <p:spPr>
              <a:xfrm>
                <a:off x="6333893" y="1404034"/>
                <a:ext cx="4869950" cy="646331"/>
              </a:xfrm>
              <a:prstGeom prst="rect">
                <a:avLst/>
              </a:prstGeom>
              <a:blipFill>
                <a:blip r:embed="rId4"/>
                <a:stretch>
                  <a:fillRect l="-1001" t="-4717"/>
                </a:stretch>
              </a:blipFill>
            </p:spPr>
            <p:txBody>
              <a:bodyPr/>
              <a:lstStyle/>
              <a:p>
                <a:r>
                  <a:rPr lang="en-US">
                    <a:noFill/>
                  </a:rPr>
                  <a:t> </a:t>
                </a:r>
              </a:p>
            </p:txBody>
          </p:sp>
        </mc:Fallback>
      </mc:AlternateContent>
    </p:spTree>
    <p:extLst>
      <p:ext uri="{BB962C8B-B14F-4D97-AF65-F5344CB8AC3E}">
        <p14:creationId xmlns:p14="http://schemas.microsoft.com/office/powerpoint/2010/main" val="23385877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378BBD-6189-44F4-BA40-67E767E10202}"/>
              </a:ext>
            </a:extLst>
          </p:cNvPr>
          <p:cNvSpPr>
            <a:spLocks noGrp="1"/>
          </p:cNvSpPr>
          <p:nvPr>
            <p:ph type="title"/>
          </p:nvPr>
        </p:nvSpPr>
        <p:spPr>
          <a:xfrm>
            <a:off x="801688" y="127000"/>
            <a:ext cx="3932237" cy="1600200"/>
          </a:xfrm>
        </p:spPr>
        <p:txBody>
          <a:bodyPr/>
          <a:lstStyle/>
          <a:p>
            <a:r>
              <a:rPr lang="en-US" dirty="0"/>
              <a:t>Inventory Value</a:t>
            </a:r>
          </a:p>
        </p:txBody>
      </p:sp>
      <p:sp>
        <p:nvSpPr>
          <p:cNvPr id="3" name="Content Placeholder 2">
            <a:extLst>
              <a:ext uri="{FF2B5EF4-FFF2-40B4-BE49-F238E27FC236}">
                <a16:creationId xmlns:a16="http://schemas.microsoft.com/office/drawing/2014/main" id="{D98FD024-A8F5-48A1-AD3E-13A636399DB5}"/>
              </a:ext>
            </a:extLst>
          </p:cNvPr>
          <p:cNvSpPr>
            <a:spLocks noGrp="1"/>
          </p:cNvSpPr>
          <p:nvPr>
            <p:ph type="body" sz="half" idx="2"/>
          </p:nvPr>
        </p:nvSpPr>
        <p:spPr>
          <a:xfrm>
            <a:off x="801688" y="1727200"/>
            <a:ext cx="4574693" cy="3811588"/>
          </a:xfrm>
        </p:spPr>
        <p:txBody>
          <a:bodyPr>
            <a:noAutofit/>
          </a:bodyPr>
          <a:lstStyle/>
          <a:p>
            <a:pPr marL="342900" indent="-342900">
              <a:buFont typeface="Arial" panose="020B0604020202020204" pitchFamily="34" charset="0"/>
              <a:buChar char="•"/>
            </a:pPr>
            <a:r>
              <a:rPr lang="en-US" sz="2000" dirty="0"/>
              <a:t>Call pass rate S for Success</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Example 1:</a:t>
            </a:r>
          </a:p>
          <a:p>
            <a:pPr marL="342900" indent="-342900">
              <a:buFont typeface="Arial" panose="020B0604020202020204" pitchFamily="34" charset="0"/>
              <a:buChar char="•"/>
            </a:pPr>
            <a:r>
              <a:rPr lang="en-US" sz="2000" dirty="0"/>
              <a:t>Consider a fresh input and empty inventory</a:t>
            </a:r>
          </a:p>
          <a:p>
            <a:pPr marL="342900" indent="-342900">
              <a:buFont typeface="Arial" panose="020B0604020202020204" pitchFamily="34" charset="0"/>
              <a:buChar char="•"/>
            </a:pPr>
            <a:r>
              <a:rPr lang="en-US" sz="2000" dirty="0"/>
              <a:t>S = 0.5</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Example:</a:t>
            </a:r>
          </a:p>
          <a:p>
            <a:pPr marL="342900" indent="-342900">
              <a:buFont typeface="Arial" panose="020B0604020202020204" pitchFamily="34" charset="0"/>
              <a:buChar char="•"/>
            </a:pPr>
            <a:endParaRPr lang="en-US" sz="2000" dirty="0"/>
          </a:p>
        </p:txBody>
      </p:sp>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98902E99-AF3A-4122-B6FD-D21758351F8D}"/>
                  </a:ext>
                </a:extLst>
              </p:cNvPr>
              <p:cNvSpPr txBox="1"/>
              <p:nvPr/>
            </p:nvSpPr>
            <p:spPr>
              <a:xfrm>
                <a:off x="6151331" y="1439176"/>
                <a:ext cx="4869950" cy="646331"/>
              </a:xfrm>
              <a:prstGeom prst="rect">
                <a:avLst/>
              </a:prstGeom>
              <a:noFill/>
            </p:spPr>
            <p:txBody>
              <a:bodyPr wrap="square" rtlCol="0">
                <a:spAutoFit/>
              </a:bodyPr>
              <a:lstStyle/>
              <a:p>
                <a:r>
                  <a:rPr lang="en-US" dirty="0"/>
                  <a:t>Overall Equation Still True</a:t>
                </a:r>
              </a:p>
              <a:p>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𝑉</m:t>
                      </m:r>
                      <m:r>
                        <a:rPr lang="en-US" b="0" i="1" smtClean="0">
                          <a:latin typeface="Cambria Math" panose="02040503050406030204" pitchFamily="18" charset="0"/>
                          <a:ea typeface="Cambria Math" panose="02040503050406030204" pitchFamily="18" charset="0"/>
                        </a:rPr>
                        <m:t>=</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𝑂</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𝑁</m:t>
                          </m:r>
                        </m:e>
                      </m:d>
                      <m:r>
                        <a:rPr lang="en-US" b="0" i="1" smtClean="0">
                          <a:latin typeface="Cambria Math" panose="02040503050406030204" pitchFamily="18" charset="0"/>
                          <a:ea typeface="Cambria Math" panose="02040503050406030204" pitchFamily="18" charset="0"/>
                        </a:rPr>
                        <m:t> − ∆</m:t>
                      </m:r>
                      <m:r>
                        <a:rPr lang="en-US" b="0" i="1" smtClean="0">
                          <a:latin typeface="Cambria Math" panose="02040503050406030204" pitchFamily="18" charset="0"/>
                          <a:ea typeface="Cambria Math" panose="02040503050406030204" pitchFamily="18" charset="0"/>
                        </a:rPr>
                        <m:t>𝐼</m:t>
                      </m:r>
                    </m:oMath>
                  </m:oMathPara>
                </a14:m>
                <a:endParaRPr lang="en-US" dirty="0"/>
              </a:p>
            </p:txBody>
          </p:sp>
        </mc:Choice>
        <mc:Fallback>
          <p:sp>
            <p:nvSpPr>
              <p:cNvPr id="6" name="TextBox 5">
                <a:extLst>
                  <a:ext uri="{FF2B5EF4-FFF2-40B4-BE49-F238E27FC236}">
                    <a16:creationId xmlns:a16="http://schemas.microsoft.com/office/drawing/2014/main" id="{98902E99-AF3A-4122-B6FD-D21758351F8D}"/>
                  </a:ext>
                </a:extLst>
              </p:cNvPr>
              <p:cNvSpPr txBox="1">
                <a:spLocks noRot="1" noChangeAspect="1" noMove="1" noResize="1" noEditPoints="1" noAdjustHandles="1" noChangeArrowheads="1" noChangeShapeType="1" noTextEdit="1"/>
              </p:cNvSpPr>
              <p:nvPr/>
            </p:nvSpPr>
            <p:spPr>
              <a:xfrm>
                <a:off x="6151331" y="1439176"/>
                <a:ext cx="4869950" cy="646331"/>
              </a:xfrm>
              <a:prstGeom prst="rect">
                <a:avLst/>
              </a:prstGeom>
              <a:blipFill>
                <a:blip r:embed="rId3"/>
                <a:stretch>
                  <a:fillRect l="-1001" t="-4717"/>
                </a:stretch>
              </a:blipFill>
            </p:spPr>
            <p:txBody>
              <a:bodyPr/>
              <a:lstStyle/>
              <a:p>
                <a:r>
                  <a:rPr lang="en-US">
                    <a:noFill/>
                  </a:rPr>
                  <a:t> </a:t>
                </a:r>
              </a:p>
            </p:txBody>
          </p:sp>
        </mc:Fallback>
      </mc:AlternateContent>
      <p:pic>
        <p:nvPicPr>
          <p:cNvPr id="7" name="Picture 6">
            <a:extLst>
              <a:ext uri="{FF2B5EF4-FFF2-40B4-BE49-F238E27FC236}">
                <a16:creationId xmlns:a16="http://schemas.microsoft.com/office/drawing/2014/main" id="{B12251B8-0CC2-40DB-AD37-C870DD2A6F03}"/>
              </a:ext>
            </a:extLst>
          </p:cNvPr>
          <p:cNvPicPr>
            <a:picLocks noChangeAspect="1"/>
          </p:cNvPicPr>
          <p:nvPr/>
        </p:nvPicPr>
        <p:blipFill>
          <a:blip r:embed="rId4"/>
          <a:stretch>
            <a:fillRect/>
          </a:stretch>
        </p:blipFill>
        <p:spPr>
          <a:xfrm>
            <a:off x="5772150" y="3099594"/>
            <a:ext cx="6419850" cy="1066800"/>
          </a:xfrm>
          <a:prstGeom prst="rect">
            <a:avLst/>
          </a:prstGeom>
        </p:spPr>
      </p:pic>
    </p:spTree>
    <p:extLst>
      <p:ext uri="{BB962C8B-B14F-4D97-AF65-F5344CB8AC3E}">
        <p14:creationId xmlns:p14="http://schemas.microsoft.com/office/powerpoint/2010/main" val="15220614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3ED627-EA3A-4E92-8BD2-FB55EF3D08FF}"/>
              </a:ext>
            </a:extLst>
          </p:cNvPr>
          <p:cNvSpPr>
            <a:spLocks noGrp="1"/>
          </p:cNvSpPr>
          <p:nvPr>
            <p:ph type="title"/>
          </p:nvPr>
        </p:nvSpPr>
        <p:spPr/>
        <p:txBody>
          <a:bodyPr/>
          <a:lstStyle/>
          <a:p>
            <a:r>
              <a:rPr lang="en-US" dirty="0"/>
              <a:t>Inventory Value</a:t>
            </a:r>
          </a:p>
        </p:txBody>
      </p:sp>
      <p:sp>
        <p:nvSpPr>
          <p:cNvPr id="3" name="Content Placeholder 2">
            <a:extLst>
              <a:ext uri="{FF2B5EF4-FFF2-40B4-BE49-F238E27FC236}">
                <a16:creationId xmlns:a16="http://schemas.microsoft.com/office/drawing/2014/main" id="{D072F1E9-A2C3-4C27-8882-AD438F7FA13F}"/>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316625192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80</TotalTime>
  <Words>895</Words>
  <Application>Microsoft Office PowerPoint</Application>
  <PresentationFormat>Widescreen</PresentationFormat>
  <Paragraphs>84</Paragraphs>
  <Slides>8</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Calibri</vt:lpstr>
      <vt:lpstr>Calibri Light</vt:lpstr>
      <vt:lpstr>Cambria Math</vt:lpstr>
      <vt:lpstr>Office Theme</vt:lpstr>
      <vt:lpstr>Weighted Yield Report</vt:lpstr>
      <vt:lpstr>What is it?</vt:lpstr>
      <vt:lpstr>Normalizing the Model</vt:lpstr>
      <vt:lpstr>Normalizing the Model (Example)</vt:lpstr>
      <vt:lpstr>A Less Naïve Model</vt:lpstr>
      <vt:lpstr>An Even Less Naïve Model</vt:lpstr>
      <vt:lpstr>Inventory Value</vt:lpstr>
      <vt:lpstr>Inventory Value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Weighted Yield Report</dc:title>
  <dc:creator>Andrew Liu (US)</dc:creator>
  <cp:lastModifiedBy>Andrew Liu (US)</cp:lastModifiedBy>
  <cp:revision>8</cp:revision>
  <dcterms:created xsi:type="dcterms:W3CDTF">2017-10-12T17:09:13Z</dcterms:created>
  <dcterms:modified xsi:type="dcterms:W3CDTF">2017-10-12T18:29:37Z</dcterms:modified>
</cp:coreProperties>
</file>